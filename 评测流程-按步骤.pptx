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2FD07-CA90-6B44-9705-8A38F2E144CC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616DE-0840-3D47-B45C-A62E0AC5E6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404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按顺序过每一步，不过就停。参照物是 CPU-fp64。核心是 Step 3 按 MuJoCo 运动流程逐阶段对照。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碰撞检测在位置阶段内。NPU 只改碰撞检测，其余阶段的差异都是传播；驱动/加速度阶段与碰撞无关，应 bit 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一次性搭建。fp32 参考是把移植 bug 和精度损失分开的前提，也是阈值的经验依据。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开关不一致会让整条对照口径错，必须先卡住。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最基本的“能跑”。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 NPU 唯一改动的子阶段。步骤 ④⑤⑥ 是核心：无序匹配 → 结构性指标 → 分族分桶的连续误差。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运动学/惯量是碰撞前的子步，必须 bit 相同（自检）；构建/投影约束是碰撞差异的第一层传播。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速度阶段只依赖约束结构，差异应显著小于碰撞阶段；这里是传播观测点。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驱动阶段和碰撞无关，必须 bit 相同——这是诊断信号，不是评测项。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 3.3，与碰撞无关的自检点。只用函数本身。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接触变了 → efc 变了 → qacc 变了。hybrid 就是这一阶段的隔离版；solver_test.py 是结构模板。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积分阶段看终点：小差异经 H 步弹跳放大成多大轨迹偏差。因为混沌，多种子报分布不是单点。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接触偏 1mm 可能无所谓，漏一个接触是灾难——这一步区分这两种。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NPU 异步归约可能 run-to-run 不一致，要给出上界并纳入容差。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即使碰撞快 10 倍，整步理论上限也就快约 13%。报告要算清这笔账。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结论要回答：和原版有无差异 / 差异是否影响结果 / 加速比是否划算。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各阶段的复用清单在对应 Step 3.x 页；这页只收跨步骤共用的和必须自己写的。本周可做：接 MJWarp 泳道 + 建 fp32 泳道。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ea typeface="Microsoft YaHei"/>
                <a:cs typeface="Microsoft YaHei"/>
              </a:rPr>
              <a:t>NPU 碰撞检测优化 —— 评测流程（按检验步骤）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ea typeface="Microsoft YaHei"/>
                <a:cs typeface="Microsoft YaHei"/>
              </a:rPr>
              <a:t>对照 MuJoCo / MuJoCo Warp 官方按阶段评测 · 2026-09-09</a:t>
            </a:r>
          </a:p>
          <a:p>
            <a:r>
              <a:rPr>
                <a:ea typeface="Microsoft YaHei"/>
                <a:cs typeface="Microsoft YaHei"/>
              </a:rPr>
              <a:t>参照物 = MuJoCo CPU-fp64（唯一真值）· 容差对照，非 bit 对照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流程总览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给定一个 NPU 碰撞检测构建，按顺序过每一步；前一步不通过就停。</a:t>
            </a:r>
          </a:p>
          <a:p>
            <a:r>
              <a:rPr sz="2000">
                <a:ea typeface="Microsoft YaHei"/>
                <a:cs typeface="Microsoft YaHei"/>
              </a:rPr>
              <a:t>Step 0  准备（冻结基线，只做一次）</a:t>
            </a:r>
          </a:p>
          <a:p>
            <a:r>
              <a:rPr sz="2000">
                <a:ea typeface="Microsoft YaHei"/>
                <a:cs typeface="Microsoft YaHei"/>
              </a:rPr>
              <a:t>Step 1  环境校验</a:t>
            </a:r>
          </a:p>
          <a:p>
            <a:r>
              <a:rPr sz="2000">
                <a:ea typeface="Microsoft YaHei"/>
                <a:cs typeface="Microsoft YaHei"/>
              </a:rPr>
              <a:t>Step 2  冒烟</a:t>
            </a:r>
          </a:p>
          <a:p>
            <a:r>
              <a:rPr sz="2000">
                <a:ea typeface="Microsoft YaHei"/>
                <a:cs typeface="Microsoft YaHei"/>
              </a:rPr>
              <a:t>Step 3  逐阶段对照（核心：按 MuJoCo 运动流程 位置→速度→驱动→加速度→约束求解→积分）</a:t>
            </a:r>
          </a:p>
          <a:p>
            <a:r>
              <a:rPr sz="2000">
                <a:ea typeface="Microsoft YaHei"/>
                <a:cs typeface="Microsoft YaHei"/>
              </a:rPr>
              <a:t>Step 4  下游敏感度（hybrid：碰撞喂回同一 CPU 求解器）</a:t>
            </a:r>
          </a:p>
          <a:p>
            <a:r>
              <a:rPr sz="2000">
                <a:ea typeface="Microsoft YaHei"/>
                <a:cs typeface="Microsoft YaHei"/>
              </a:rPr>
              <a:t>Step 5  确定性</a:t>
            </a:r>
          </a:p>
          <a:p>
            <a:r>
              <a:rPr sz="2000">
                <a:ea typeface="Microsoft YaHei"/>
                <a:cs typeface="Microsoft YaHei"/>
              </a:rPr>
              <a:t>Step 6  性能</a:t>
            </a:r>
          </a:p>
          <a:p>
            <a:r>
              <a:rPr sz="2000">
                <a:ea typeface="Microsoft YaHei"/>
                <a:cs typeface="Microsoft YaHei"/>
              </a:rPr>
              <a:t>Step 7  判定 + 报告</a:t>
            </a:r>
          </a:p>
          <a:p>
            <a:r>
              <a:rPr sz="2000">
                <a:ea typeface="Microsoft YaHei"/>
                <a:cs typeface="Microsoft YaHei"/>
              </a:rPr>
              <a:t>阈值 = Step 0 的 fp64 vs fp32 实测误差带 × 1.5；硬门禁无条件。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对照点：MuJoCo 的运动流程（官方 Timer 体系）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位置阶段  mjTIMER_POSITION（mj_fwdPosition）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运动学/质心/肌腱/传动   POS_KINEMATICS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惯量计算                POS_INERTIA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碰撞检测   POS_COLLISION → COL_BROAD / COL_NARROW    ← NPU 改这里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构建约束方程            POS_MAKE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投影约束                POS_PROJECT</a:t>
            </a:r>
          </a:p>
          <a:p>
            <a:r>
              <a:rPr sz="2000">
                <a:ea typeface="Microsoft YaHei"/>
                <a:cs typeface="Microsoft YaHei"/>
              </a:rPr>
              <a:t>速度阶段  mjTIMER_VELOCITY（mj_fwdVelocity）</a:t>
            </a:r>
          </a:p>
          <a:p>
            <a:r>
              <a:rPr sz="2000">
                <a:ea typeface="Microsoft YaHei"/>
                <a:cs typeface="Microsoft YaHei"/>
              </a:rPr>
              <a:t>驱动阶段  mjTIMER_ACTUATION（mj_fwdActuation）</a:t>
            </a:r>
          </a:p>
          <a:p>
            <a:r>
              <a:rPr sz="2000">
                <a:ea typeface="Microsoft YaHei"/>
                <a:cs typeface="Microsoft YaHei"/>
              </a:rPr>
              <a:t>加速度阶段  mj_fwdAcceleration（无独立 timer）</a:t>
            </a:r>
          </a:p>
          <a:p>
            <a:r>
              <a:rPr sz="2000">
                <a:ea typeface="Microsoft YaHei"/>
                <a:cs typeface="Microsoft YaHei"/>
              </a:rPr>
              <a:t>约束求解阶段  mjTIMER_CONSTRAINT（mj_fwdConstraint，Newton/PGS/CG 迭代）</a:t>
            </a:r>
          </a:p>
          <a:p>
            <a:r>
              <a:rPr sz="2000">
                <a:ea typeface="Microsoft YaHei"/>
                <a:cs typeface="Microsoft YaHei"/>
              </a:rPr>
              <a:t>积分/推进  mjTIMER_ADVANCE（mj_Euler / mj_implicit / mj_RungeKutta）</a:t>
            </a:r>
          </a:p>
          <a:p>
            <a:r>
              <a:rPr sz="2000">
                <a:ea typeface="Microsoft YaHei"/>
                <a:cs typeface="Microsoft YaHei"/>
              </a:rPr>
              <a:t>碰撞检测是“位置阶段”的子阶段，不是独立顶层阶段；约束求解计时不含碰撞。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0 · 准备（冻结基线，只做一次）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固定 MuJoCo 版本、测试模型集、opt 开关（ccd_iterations / ccd_tolerance / broadphase / disableflags / multiccd）。</a:t>
            </a:r>
          </a:p>
          <a:p>
            <a:r>
              <a:rPr sz="2000">
                <a:ea typeface="Microsoft YaHei"/>
                <a:cs typeface="Microsoft YaHei"/>
              </a:rPr>
              <a:t>建两个 CPU 参考构建：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cpu_fp64 —— 官方 double，真值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cpu_fp32 —— mjtNum=float 重编，“纯精度损失”基线</a:t>
            </a:r>
          </a:p>
          <a:p>
            <a:r>
              <a:rPr sz="2000">
                <a:ea typeface="Microsoft YaHei"/>
                <a:cs typeface="Microsoft YaHei"/>
              </a:rPr>
              <a:t>生成 golden：每个用例用 cpu_fp64 跑 N 步，逐阶段 dump mjData + sha256。</a:t>
            </a:r>
          </a:p>
          <a:p>
            <a:r>
              <a:rPr sz="2000">
                <a:ea typeface="Microsoft YaHei"/>
                <a:cs typeface="Microsoft YaHei"/>
              </a:rPr>
              <a:t>跑 cpu_fp64 vs cpu_fp32 逐阶段误差 → 误差带（p50/p95/max）。</a:t>
            </a:r>
          </a:p>
          <a:p>
            <a:r>
              <a:rPr sz="2000">
                <a:ea typeface="Microsoft YaHei"/>
                <a:cs typeface="Microsoft YaHei"/>
              </a:rPr>
              <a:t>→ 这就是后面所有 p95 阈值的依据（阈值 = 误差带 p95 × 1.5）。</a:t>
            </a:r>
          </a:p>
          <a:p>
            <a:r>
              <a:rPr sz="2000">
                <a:ea typeface="Microsoft YaHei"/>
                <a:cs typeface="Microsoft YaHei"/>
              </a:rPr>
              <a:t>产出：golden/（含 checksum）、fp32_band.json、阈值表。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1 · 环境校验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golden 的 sha256 未漂移。</a:t>
            </a:r>
          </a:p>
          <a:p>
            <a:r>
              <a:rPr sz="2000">
                <a:ea typeface="Microsoft YaHei"/>
                <a:cs typeface="Microsoft YaHei"/>
              </a:rPr>
              <a:t>全部测试模型能加载（mj_loadXML 不报错）。</a:t>
            </a:r>
          </a:p>
          <a:p>
            <a:r>
              <a:rPr sz="2000">
                <a:ea typeface="Microsoft YaHei"/>
                <a:cs typeface="Microsoft YaHei"/>
              </a:rPr>
              <a:t>NPU 侧的 opt 开关与 golden 逐项一致。</a:t>
            </a:r>
          </a:p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通过标准：三项全满足。</a:t>
            </a:r>
          </a:p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不通过 → 停（改配置或重生成 golden，不能带病继续）。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2 · 冒烟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每个场景用 NPU 后端跑 N 步（例如 200 步）。</a:t>
            </a:r>
          </a:p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通过标准：不崩溃、无 mju_error、无 NaN、ncon &gt; 0。</a:t>
            </a:r>
          </a:p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不通过 → 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3.1a · 位置阶段 — 碰撞检测子阶段  mj_collision / POS_COLLISION→COL_BROAD/NARROW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5022"/>
            <a:ext cx="11619186" cy="4581142"/>
          </a:xfrm>
        </p:spPr>
        <p:txBody>
          <a:bodyPr>
            <a:normAutofit fontScale="92500" lnSpcReduction="10000"/>
          </a:bodyPr>
          <a:lstStyle/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要做什么：比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NPU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的碰撞检测输出（ncon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· contact[]）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与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cpu_fp64——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有无漏检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/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虚检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/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几何误差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/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法向翻转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/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broadphase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丢对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。</a:t>
            </a:r>
          </a:p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怎么做</a:t>
            </a:r>
            <a:endParaRPr sz="2000" b="1" dirty="0">
              <a:solidFill>
                <a:srgbClr val="202020"/>
              </a:solidFill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① </a:t>
            </a:r>
            <a:r>
              <a:rPr sz="1500" dirty="0" err="1">
                <a:ea typeface="Microsoft YaHei"/>
                <a:cs typeface="Microsoft YaHei"/>
              </a:rPr>
              <a:t>每个碰撞用例取初始位形，三路各建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mjData、设同一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qpos</a:t>
            </a:r>
            <a:r>
              <a:rPr sz="1500" dirty="0">
                <a:ea typeface="Microsoft YaHei"/>
                <a:cs typeface="Microsoft YaHei"/>
              </a:rPr>
              <a:t>/</a:t>
            </a:r>
            <a:r>
              <a:rPr sz="1500" dirty="0" err="1">
                <a:ea typeface="Microsoft YaHei"/>
                <a:cs typeface="Microsoft YaHei"/>
              </a:rPr>
              <a:t>qvel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② </a:t>
            </a:r>
            <a:r>
              <a:rPr sz="1500" dirty="0" err="1">
                <a:ea typeface="Microsoft YaHei"/>
                <a:cs typeface="Microsoft YaHei"/>
              </a:rPr>
              <a:t>三路各跑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mj_fwdKinematics</a:t>
            </a:r>
            <a:r>
              <a:rPr sz="1500" dirty="0">
                <a:ea typeface="Microsoft YaHei"/>
                <a:cs typeface="Microsoft YaHei"/>
              </a:rPr>
              <a:t> → </a:t>
            </a:r>
            <a:r>
              <a:rPr sz="1500" dirty="0" err="1">
                <a:ea typeface="Microsoft YaHei"/>
                <a:cs typeface="Microsoft YaHei"/>
              </a:rPr>
              <a:t>mj_makeM</a:t>
            </a:r>
            <a:r>
              <a:rPr sz="1500" dirty="0">
                <a:ea typeface="Microsoft YaHei"/>
                <a:cs typeface="Microsoft YaHei"/>
              </a:rPr>
              <a:t> → </a:t>
            </a:r>
            <a:r>
              <a:rPr sz="1500" dirty="0" err="1">
                <a:ea typeface="Microsoft YaHei"/>
                <a:cs typeface="Microsoft YaHei"/>
              </a:rPr>
              <a:t>mj_factorM</a:t>
            </a:r>
            <a:r>
              <a:rPr sz="1500" dirty="0">
                <a:ea typeface="Microsoft YaHei"/>
                <a:cs typeface="Microsoft YaHei"/>
              </a:rPr>
              <a:t> → </a:t>
            </a:r>
            <a:r>
              <a:rPr sz="1500" dirty="0" err="1">
                <a:ea typeface="Microsoft YaHei"/>
                <a:cs typeface="Microsoft YaHei"/>
              </a:rPr>
              <a:t>mj_collision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③ dump </a:t>
            </a:r>
            <a:r>
              <a:rPr sz="1500" dirty="0" err="1">
                <a:ea typeface="Microsoft YaHei"/>
                <a:cs typeface="Microsoft YaHei"/>
              </a:rPr>
              <a:t>ncon</a:t>
            </a:r>
            <a:r>
              <a:rPr sz="1500" dirty="0">
                <a:ea typeface="Microsoft YaHei"/>
                <a:cs typeface="Microsoft YaHei"/>
              </a:rPr>
              <a:t> + contact[</a:t>
            </a:r>
            <a:r>
              <a:rPr sz="1500" dirty="0" err="1">
                <a:ea typeface="Microsoft YaHei"/>
                <a:cs typeface="Microsoft YaHei"/>
              </a:rPr>
              <a:t>i</a:t>
            </a:r>
            <a:r>
              <a:rPr sz="1500" dirty="0">
                <a:ea typeface="Microsoft YaHei"/>
                <a:cs typeface="Microsoft YaHei"/>
              </a:rPr>
              <a:t>].{</a:t>
            </a:r>
            <a:r>
              <a:rPr sz="1500" dirty="0" err="1">
                <a:ea typeface="Microsoft YaHei"/>
                <a:cs typeface="Microsoft YaHei"/>
              </a:rPr>
              <a:t>dist,pos,frame,dim,geom,friction</a:t>
            </a:r>
            <a:r>
              <a:rPr sz="1500" dirty="0">
                <a:ea typeface="Microsoft YaHei"/>
                <a:cs typeface="Microsoft YaHei"/>
              </a:rPr>
              <a:t>} + </a:t>
            </a:r>
            <a:r>
              <a:rPr sz="1500" dirty="0" err="1">
                <a:ea typeface="Microsoft YaHei"/>
                <a:cs typeface="Microsoft YaHei"/>
              </a:rPr>
              <a:t>broadphase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候选对；按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MuJoCo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确定性规则重排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④ </a:t>
            </a:r>
            <a:r>
              <a:rPr sz="1500" dirty="0" err="1">
                <a:ea typeface="Microsoft YaHei"/>
                <a:cs typeface="Microsoft YaHei"/>
              </a:rPr>
              <a:t>无序匹配：对每个</a:t>
            </a:r>
            <a:r>
              <a:rPr sz="1500" dirty="0">
                <a:ea typeface="Microsoft YaHei"/>
                <a:cs typeface="Microsoft YaHei"/>
              </a:rPr>
              <a:t> fp64 </a:t>
            </a:r>
            <a:r>
              <a:rPr sz="1500" dirty="0" err="1">
                <a:ea typeface="Microsoft YaHei"/>
                <a:cs typeface="Microsoft YaHei"/>
              </a:rPr>
              <a:t>参考接触，在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npu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接触里按</a:t>
            </a:r>
            <a:r>
              <a:rPr sz="1500" dirty="0">
                <a:ea typeface="Microsoft YaHei"/>
                <a:cs typeface="Microsoft YaHei"/>
              </a:rPr>
              <a:t> (geom1,geom2)+pos </a:t>
            </a:r>
            <a:r>
              <a:rPr sz="1500" dirty="0" err="1">
                <a:ea typeface="Microsoft YaHei"/>
                <a:cs typeface="Microsoft YaHei"/>
              </a:rPr>
              <a:t>邻近找匹配，dist∧pos∧frame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全在容差内算命中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⑤ </a:t>
            </a:r>
            <a:r>
              <a:rPr sz="1500" dirty="0" err="1">
                <a:ea typeface="Microsoft YaHei"/>
                <a:cs typeface="Microsoft YaHei"/>
              </a:rPr>
              <a:t>统计漏检率</a:t>
            </a:r>
            <a:r>
              <a:rPr sz="1500" dirty="0">
                <a:ea typeface="Microsoft YaHei"/>
                <a:cs typeface="Microsoft YaHei"/>
              </a:rPr>
              <a:t> / </a:t>
            </a:r>
            <a:r>
              <a:rPr sz="1500" dirty="0" err="1">
                <a:ea typeface="Microsoft YaHei"/>
                <a:cs typeface="Microsoft YaHei"/>
              </a:rPr>
              <a:t>虚检率</a:t>
            </a:r>
            <a:r>
              <a:rPr sz="1500" dirty="0">
                <a:ea typeface="Microsoft YaHei"/>
                <a:cs typeface="Microsoft YaHei"/>
              </a:rPr>
              <a:t> / </a:t>
            </a:r>
            <a:r>
              <a:rPr sz="1500" dirty="0" err="1">
                <a:ea typeface="Microsoft YaHei"/>
                <a:cs typeface="Microsoft YaHei"/>
              </a:rPr>
              <a:t>ncon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一致率</a:t>
            </a:r>
            <a:r>
              <a:rPr sz="1500" dirty="0">
                <a:ea typeface="Microsoft YaHei"/>
                <a:cs typeface="Microsoft YaHei"/>
              </a:rPr>
              <a:t> / </a:t>
            </a:r>
            <a:r>
              <a:rPr sz="1500" dirty="0" err="1">
                <a:ea typeface="Microsoft YaHei"/>
                <a:cs typeface="Microsoft YaHei"/>
              </a:rPr>
              <a:t>法向翻转率</a:t>
            </a:r>
            <a:r>
              <a:rPr sz="1500" dirty="0">
                <a:ea typeface="Microsoft YaHei"/>
                <a:cs typeface="Microsoft YaHei"/>
              </a:rPr>
              <a:t> / </a:t>
            </a:r>
            <a:r>
              <a:rPr sz="1500" dirty="0" err="1">
                <a:ea typeface="Microsoft YaHei"/>
                <a:cs typeface="Microsoft YaHei"/>
              </a:rPr>
              <a:t>broadphase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集合关系；匹配集上算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dist·pos·normal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误差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⑥ </a:t>
            </a:r>
            <a:r>
              <a:rPr sz="1500" dirty="0" err="1">
                <a:ea typeface="Microsoft YaHei"/>
                <a:cs typeface="Microsoft YaHei"/>
              </a:rPr>
              <a:t>按算法族（primitive</a:t>
            </a:r>
            <a:r>
              <a:rPr sz="1500" dirty="0">
                <a:ea typeface="Microsoft YaHei"/>
                <a:cs typeface="Microsoft YaHei"/>
              </a:rPr>
              <a:t> / </a:t>
            </a:r>
            <a:r>
              <a:rPr sz="1500" dirty="0" err="1">
                <a:ea typeface="Microsoft YaHei"/>
                <a:cs typeface="Microsoft YaHei"/>
              </a:rPr>
              <a:t>BoxBox</a:t>
            </a:r>
            <a:r>
              <a:rPr sz="1500" dirty="0">
                <a:ea typeface="Microsoft YaHei"/>
                <a:cs typeface="Microsoft YaHei"/>
              </a:rPr>
              <a:t> / Convex-GJK / SDF）+ </a:t>
            </a:r>
            <a:r>
              <a:rPr sz="1500" dirty="0" err="1">
                <a:ea typeface="Microsoft YaHei"/>
                <a:cs typeface="Microsoft YaHei"/>
              </a:rPr>
              <a:t>按穿透深度分桶报</a:t>
            </a:r>
            <a:r>
              <a:rPr sz="1500" dirty="0">
                <a:ea typeface="Microsoft YaHei"/>
                <a:cs typeface="Microsoft YaHei"/>
              </a:rPr>
              <a:t> p95 / max</a:t>
            </a:r>
          </a:p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测评标准</a:t>
            </a:r>
            <a:endParaRPr sz="2000" b="1" dirty="0">
              <a:solidFill>
                <a:srgbClr val="202020"/>
              </a:solidFill>
              <a:ea typeface="Microsoft YaHei"/>
              <a:cs typeface="Microsoft YaHei"/>
            </a:endParaRPr>
          </a:p>
          <a:p>
            <a:pPr lvl="1"/>
            <a:r>
              <a:rPr sz="1500" dirty="0" err="1">
                <a:ea typeface="Microsoft YaHei"/>
                <a:cs typeface="Microsoft YaHei"/>
              </a:rPr>
              <a:t>硬门禁：漏检率</a:t>
            </a:r>
            <a:r>
              <a:rPr sz="1500" dirty="0">
                <a:ea typeface="Microsoft YaHei"/>
                <a:cs typeface="Microsoft YaHei"/>
              </a:rPr>
              <a:t>=0 · </a:t>
            </a:r>
            <a:r>
              <a:rPr sz="1500" dirty="0" err="1">
                <a:ea typeface="Microsoft YaHei"/>
                <a:cs typeface="Microsoft YaHei"/>
              </a:rPr>
              <a:t>法向翻转率</a:t>
            </a:r>
            <a:r>
              <a:rPr sz="1500" dirty="0">
                <a:ea typeface="Microsoft YaHei"/>
                <a:cs typeface="Microsoft YaHei"/>
              </a:rPr>
              <a:t>=0 · </a:t>
            </a:r>
            <a:r>
              <a:rPr sz="1500" dirty="0" err="1">
                <a:ea typeface="Microsoft YaHei"/>
                <a:cs typeface="Microsoft YaHei"/>
              </a:rPr>
              <a:t>broadphase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候选对不是</a:t>
            </a:r>
            <a:r>
              <a:rPr sz="1500" dirty="0">
                <a:ea typeface="Microsoft YaHei"/>
                <a:cs typeface="Microsoft YaHei"/>
              </a:rPr>
              <a:t> cpu_fp64 </a:t>
            </a:r>
            <a:r>
              <a:rPr sz="1500" dirty="0" err="1">
                <a:ea typeface="Microsoft YaHei"/>
                <a:cs typeface="Microsoft YaHei"/>
              </a:rPr>
              <a:t>的子集（超集允许</a:t>
            </a:r>
            <a:r>
              <a:rPr sz="1500" dirty="0">
                <a:ea typeface="Microsoft YaHei"/>
                <a:cs typeface="Microsoft YaHei"/>
              </a:rPr>
              <a:t>）</a:t>
            </a:r>
          </a:p>
          <a:p>
            <a:pPr lvl="1"/>
            <a:r>
              <a:rPr sz="1500" dirty="0" err="1">
                <a:ea typeface="Microsoft YaHei"/>
                <a:cs typeface="Microsoft YaHei"/>
              </a:rPr>
              <a:t>每算法族：dist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相对误差</a:t>
            </a:r>
            <a:r>
              <a:rPr sz="1500" dirty="0">
                <a:ea typeface="Microsoft YaHei"/>
                <a:cs typeface="Microsoft YaHei"/>
              </a:rPr>
              <a:t> p95 ≤ </a:t>
            </a:r>
            <a:r>
              <a:rPr sz="1500" dirty="0" err="1">
                <a:ea typeface="Microsoft YaHei"/>
                <a:cs typeface="Microsoft YaHei"/>
              </a:rPr>
              <a:t>阈值</a:t>
            </a:r>
            <a:r>
              <a:rPr sz="1500" dirty="0">
                <a:ea typeface="Microsoft YaHei"/>
                <a:cs typeface="Microsoft YaHei"/>
              </a:rPr>
              <a:t> · pos L2（按 </a:t>
            </a:r>
            <a:r>
              <a:rPr sz="1500" dirty="0" err="1">
                <a:ea typeface="Microsoft YaHei"/>
                <a:cs typeface="Microsoft YaHei"/>
              </a:rPr>
              <a:t>geom</a:t>
            </a:r>
            <a:r>
              <a:rPr sz="1500" dirty="0">
                <a:ea typeface="Microsoft YaHei"/>
                <a:cs typeface="Microsoft YaHei"/>
              </a:rPr>
              <a:t> 尺寸归一）p95 ≤ </a:t>
            </a:r>
            <a:r>
              <a:rPr sz="1500" dirty="0" err="1">
                <a:ea typeface="Microsoft YaHei"/>
                <a:cs typeface="Microsoft YaHei"/>
              </a:rPr>
              <a:t>阈值</a:t>
            </a:r>
            <a:r>
              <a:rPr sz="1500" dirty="0">
                <a:ea typeface="Microsoft YaHei"/>
                <a:cs typeface="Microsoft YaHei"/>
              </a:rPr>
              <a:t> · </a:t>
            </a:r>
            <a:r>
              <a:rPr sz="1500" dirty="0" err="1">
                <a:ea typeface="Microsoft YaHei"/>
                <a:cs typeface="Microsoft YaHei"/>
              </a:rPr>
              <a:t>法向夹角</a:t>
            </a:r>
            <a:r>
              <a:rPr sz="1500" dirty="0">
                <a:ea typeface="Microsoft YaHei"/>
                <a:cs typeface="Microsoft YaHei"/>
              </a:rPr>
              <a:t> p95 ≤ 1°(primitive)/5°(Convex)</a:t>
            </a:r>
          </a:p>
          <a:p>
            <a:pPr lvl="1"/>
            <a:r>
              <a:rPr sz="1500" dirty="0" err="1">
                <a:ea typeface="Microsoft YaHei"/>
                <a:cs typeface="Microsoft YaHei"/>
              </a:rPr>
              <a:t>ncon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逐帧一致（PLANE</a:t>
            </a:r>
            <a:r>
              <a:rPr sz="1500" dirty="0">
                <a:ea typeface="Microsoft YaHei"/>
                <a:cs typeface="Microsoft YaHei"/>
              </a:rPr>
              <a:t>&lt;&gt;MESH / </a:t>
            </a:r>
            <a:r>
              <a:rPr sz="1500" dirty="0" err="1">
                <a:ea typeface="Microsoft YaHei"/>
                <a:cs typeface="Microsoft YaHei"/>
              </a:rPr>
              <a:t>hfield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等已知差异</a:t>
            </a:r>
            <a:r>
              <a:rPr sz="1500" dirty="0">
                <a:ea typeface="Microsoft YaHei"/>
                <a:cs typeface="Microsoft YaHei"/>
              </a:rPr>
              <a:t> collider </a:t>
            </a:r>
            <a:r>
              <a:rPr sz="1500" dirty="0" err="1">
                <a:ea typeface="Microsoft YaHei"/>
                <a:cs typeface="Microsoft YaHei"/>
              </a:rPr>
              <a:t>放宽成</a:t>
            </a:r>
            <a:r>
              <a:rPr sz="1500" dirty="0">
                <a:ea typeface="Microsoft YaHei"/>
                <a:cs typeface="Microsoft YaHei"/>
              </a:rPr>
              <a:t> ≥）；</a:t>
            </a:r>
            <a:r>
              <a:rPr sz="1500" dirty="0" err="1">
                <a:ea typeface="Microsoft YaHei"/>
                <a:cs typeface="Microsoft YaHei"/>
              </a:rPr>
              <a:t>阈值</a:t>
            </a:r>
            <a:r>
              <a:rPr sz="1500" dirty="0">
                <a:ea typeface="Microsoft YaHei"/>
                <a:cs typeface="Microsoft YaHei"/>
              </a:rPr>
              <a:t> = fp64-vs-fp32 </a:t>
            </a:r>
            <a:r>
              <a:rPr sz="1500" dirty="0" err="1">
                <a:ea typeface="Microsoft YaHei"/>
                <a:cs typeface="Microsoft YaHei"/>
              </a:rPr>
              <a:t>实测带</a:t>
            </a:r>
            <a:r>
              <a:rPr sz="1500" dirty="0">
                <a:ea typeface="Microsoft YaHei"/>
                <a:cs typeface="Microsoft YaHei"/>
              </a:rPr>
              <a:t> × 1.5</a:t>
            </a:r>
          </a:p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可直接复用（本阶段，零改动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/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抄逻辑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）</a:t>
            </a:r>
          </a:p>
          <a:p>
            <a:pPr lvl="1"/>
            <a:r>
              <a:rPr sz="1500" dirty="0" err="1">
                <a:ea typeface="Microsoft YaHei"/>
                <a:cs typeface="Microsoft YaHei"/>
              </a:rPr>
              <a:t>函数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mj_fwdKinematics·mj_makeM·mj_factorM·mj_collision</a:t>
            </a:r>
            <a:r>
              <a:rPr sz="1500" dirty="0">
                <a:ea typeface="Microsoft YaHei"/>
                <a:cs typeface="Microsoft YaHei"/>
              </a:rPr>
              <a:t> + timer POS_COLLISION/COL_BROAD/COL_NARROW</a:t>
            </a:r>
          </a:p>
          <a:p>
            <a:pPr lvl="1"/>
            <a:r>
              <a:rPr sz="1500" dirty="0" err="1">
                <a:ea typeface="Microsoft YaHei"/>
                <a:cs typeface="Microsoft YaHei"/>
              </a:rPr>
              <a:t>匹配逻辑抄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mujoco_warp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collision_driver_test.py；用例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testdata</a:t>
            </a:r>
            <a:r>
              <a:rPr sz="1500" dirty="0">
                <a:ea typeface="Microsoft YaHei"/>
                <a:cs typeface="Microsoft YaHei"/>
              </a:rPr>
              <a:t>/collision_*·</a:t>
            </a:r>
            <a:r>
              <a:rPr sz="1500" dirty="0" err="1">
                <a:ea typeface="Microsoft YaHei"/>
                <a:cs typeface="Microsoft YaHei"/>
              </a:rPr>
              <a:t>collisions.xml·collision_driver</a:t>
            </a:r>
            <a:r>
              <a:rPr sz="1500" dirty="0">
                <a:ea typeface="Microsoft YaHei"/>
                <a:cs typeface="Microsoft YaHei"/>
              </a:rPr>
              <a:t>/*</a:t>
            </a:r>
          </a:p>
          <a:p>
            <a:pPr lvl="1"/>
            <a:r>
              <a:rPr sz="1500" dirty="0" err="1">
                <a:ea typeface="Microsoft YaHei"/>
                <a:cs typeface="Microsoft YaHei"/>
              </a:rPr>
              <a:t>gjk_test.cc</a:t>
            </a:r>
            <a:r>
              <a:rPr sz="1500" dirty="0">
                <a:ea typeface="Microsoft YaHei"/>
                <a:cs typeface="Microsoft YaHei"/>
              </a:rPr>
              <a:t> 47 </a:t>
            </a:r>
            <a:r>
              <a:rPr sz="1500" dirty="0" err="1">
                <a:ea typeface="Microsoft YaHei"/>
                <a:cs typeface="Microsoft YaHei"/>
              </a:rPr>
              <a:t>内联</a:t>
            </a:r>
            <a:r>
              <a:rPr sz="1500" dirty="0">
                <a:ea typeface="Microsoft YaHei"/>
                <a:cs typeface="Microsoft YaHei"/>
              </a:rPr>
              <a:t> MJCF + expected → </a:t>
            </a:r>
            <a:r>
              <a:rPr sz="1500" dirty="0" err="1">
                <a:ea typeface="Microsoft YaHei"/>
                <a:cs typeface="Microsoft YaHei"/>
              </a:rPr>
              <a:t>直接当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golden；断言写法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engine_collision_driver_test.cc</a:t>
            </a:r>
            <a:endParaRPr sz="1500" dirty="0"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3.1b · 位置阶段 — 运动学/惯量 + 构建约束 + 投影约束子阶段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要做什么：确认碰撞前子阶段没被污染（自检）；碰撞后同阶段子步（构建/投影约束）差异在容差内。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怎么做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① 三路跑完 mj_fwdKinematics/mj_makeM/mj_factorM 后 dump geom_xpos·geom_xmat·qM → 逐元素比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② 各跑 mj_makeConstraint·mj_island 后 dump nefc·efc_J(reshape nefc×nv)·efc_pos·efc_type·island 划分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③ 用 3.1a 的接触匹配结果先对齐约束行，再逐行比 efc_J：Frobenius 相对差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④ 跑 mj_projectConstraint 后比 efc_AR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测评标准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运动学/惯量：geom_xpos·geom_xmat·qM 与 cpu_fp64 逐元素 |diff|=0（不为 0 → harness bug，先修 harness）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构建约束：接触对齐后 nefc 一致 · efc_J 相对差 p95 ≤ 阈值 · island 划分一致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投影约束：efc_AR 相对差 p95 ≤ 阈值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可直接复用（本阶段，零改动）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函数 mj_makeConstraint·mj_island·mj_projectConstraint·mj_transmission + timer POS_KINEMATICS/INERTIA/MAKE/PROJECT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结构参考 engine_core_constraint_test.cc·engine_island_test.cc；脚手架 fixture.h·compare_model.h</a:t>
            </a:r>
          </a:p>
          <a:p>
            <a:r>
              <a:rPr sz="2000">
                <a:ea typeface="Microsoft YaHei"/>
                <a:cs typeface="Microsoft YaHei"/>
              </a:rPr>
              <a:t>位置阶段整体 · 与官方差别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官方比硬编码 expected/解析解（bit 级）；我们是三路跨实现容差对照 + fp32 中间泳道 + 按穿透深度分桶 + broadphase 非对称判定。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3.2 · 速度阶段  mj_fwdVelocity / mjTIMER_VELOCITY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要做什么：看碰撞差异传到速度阶段后 efc_aref / 偏置力变了多少（传播观测点，不设硬门禁）。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怎么做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① 三路跑完整个位置阶段（含 3.1 所有子步），各自保留 efc 结构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② 各跑 mj_fwdVelocity（内部 mj_comVel·mj_passive·mj_referenceConstraint·mj_rne）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③ dump efc_aref·efc_vel·qfrc_bias·qfrc_passive；接触/efc 对齐后算相对差 p95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测评标准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efc_aref·qfrc_bias·qfrc_passive 相对差 p95 ≤ 阈值（应显著小于 3.1a——不含接触几何细节）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只报数，不作阻塞门禁；异常大 → 回看 3.1b 的 efc_J 是不是已经偏了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可直接复用（本阶段）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函数 mj_fwdVelocity（含 comVel·passive·referenceConstraint·rne）+ timer VELOCITY（零改动）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结构参考 engine_passive_test.cc·engine_core_smooth_test.cc；相对差工具 compare_model.h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与官方差别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官方测被动力/RNE/参考约束本身的正确性；我们不测模型，只看碰撞差异传到这里变了多少（观测点，非 gate）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3.3 · 驱动阶段  mj_fwdActuation / mjTIMER_ACTUATION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要做什么：确认执行器阶段没被碰撞影响（自检点）。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怎么做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① 三路跑到速度阶段结束    ② 各跑 mj_fwdActuation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③ dump actuator_force·qfrc_actuator，逐元素比 cpu_fp64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测评标准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与 cpu_fp64 逐元素 |diff|=0（与碰撞无关）。不为 0 = harness 有 bug 或意外数据依赖，先修 harness。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可直接复用（本阶段）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函数 mj_fwdActuation + timer ACTUATION（零改动）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结构参考 engine_forward_test.cc 的 actuation 用例；断言 compare_model.h 或直接 == fp64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与官方差别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官方单测测各种 gaintype/biastype/传动类型的执行器模型正确性；我们不测模型，只当 harness 自检。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3.4 · 加速度阶段  mj_fwdAcceleration（无独立 timer）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要做什么：确认无约束加速度没被碰撞影响（自检点）。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怎么做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① 三路跑到驱动阶段结束    ② 各跑 mj_fwdAcceleration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③ dump qfrc_smooth·qacc_smooth，逐元素比 cpu_fp64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测评标准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与 cpu_fp64 逐元素 |diff|=0。不为 0 = harness 有 bug。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可直接复用（本阶段）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函数 mj_fwdAcceleration（零改动）；字段 qfrc_smooth·qacc_smooth（官方 mjData）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timer：无（官方并入 CONSTRAINT 之前，不单独计时）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与官方差别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官方无 ACCELERATION 独立计时、也无专门单测；我们同样当自检点，不设门禁。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3.5 · 约束求解阶段  mj_fwdConstraint / mjTIMER_CONSTRAINT  （关键传播点）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要做什么：比 NPU 接触经同一 CPU 求解器后的 qacc 与全 cpu_fp64 的差异——碰撞差异是否影响仿真的关键判定。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怎么做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① 三路各跑到加速度阶段结束    ② 各跑 mj_fwdConstraint（Newton/PGS/CG 迭代）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③ dump qacc·efc_force·qfrc_constraint·solver_niter·solver_nnz·求解器残差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④ 算 ‖qacc − qacc_fp64‖∞ 与相对 p95；比 solver_niter 差、active contact set 是否与 CPU 一致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⑤ 隔离版（Step 4 hybrid）：只把 NPU 的 contact 注入 cpu_fp64 mjData 再跑本阶段，排除上游 efc 差异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测评标准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‖qacc − qacc_ref‖∞ 的 p95 ≤ 阈值（与 cpu_fp32 接触喂求解器同量级）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solver_niter 差 p95 ≤ 2 · active contact set 与 CPU 一致；不通过 → 碰撞差异确实污染 qacc，停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可直接复用（本阶段）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函数/统计 mj_fwdConstraint + CONSTRAINT timer + d-&gt;solver·solver_niter·solver_nnz（零改动）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结构参考 MJWarp solver_test.py；官方 engine_solver_test·cg_convergence·pgs_convergence·island_test；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跨配置一致性模板 pipeline_test.cc 的 SparseDenseEquivalent（MjTol fp64 1e-11 / fp32 1e-4）</a:t>
            </a:r>
          </a:p>
          <a:p>
            <a:r>
              <a:rPr sz="2000" b="1">
                <a:solidFill>
                  <a:srgbClr val="202020"/>
                </a:solidFill>
                <a:ea typeface="Microsoft YaHei"/>
                <a:cs typeface="Microsoft YaHei"/>
              </a:rPr>
              <a:t>与官方差别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官方测求解器算法本身；我们不换求解器，只看同一 CPU 求解器吃了 NPU 接触后 qacc 差多少。官方无“接触注入+下游敏感度”。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030607" cy="1143000"/>
          </a:xfrm>
        </p:spPr>
        <p:txBody>
          <a:bodyPr/>
          <a:lstStyle/>
          <a:p>
            <a:r>
              <a:rPr sz="3000" dirty="0">
                <a:solidFill>
                  <a:srgbClr val="202020"/>
                </a:solidFill>
                <a:ea typeface="Microsoft YaHei"/>
                <a:cs typeface="Microsoft YaHei"/>
              </a:rPr>
              <a:t>Step 3.6 · </a:t>
            </a:r>
            <a:r>
              <a:rPr sz="3000" dirty="0" err="1">
                <a:solidFill>
                  <a:srgbClr val="202020"/>
                </a:solidFill>
                <a:ea typeface="Microsoft YaHei"/>
                <a:cs typeface="Microsoft YaHei"/>
              </a:rPr>
              <a:t>积分</a:t>
            </a:r>
            <a:r>
              <a:rPr sz="3000" dirty="0">
                <a:solidFill>
                  <a:srgbClr val="202020"/>
                </a:solidFill>
                <a:ea typeface="Microsoft YaHei"/>
                <a:cs typeface="Microsoft YaHei"/>
              </a:rPr>
              <a:t> / </a:t>
            </a:r>
            <a:r>
              <a:rPr sz="3000" dirty="0" err="1">
                <a:solidFill>
                  <a:srgbClr val="202020"/>
                </a:solidFill>
                <a:ea typeface="Microsoft YaHei"/>
                <a:cs typeface="Microsoft YaHei"/>
              </a:rPr>
              <a:t>推进</a:t>
            </a:r>
            <a:r>
              <a:rPr sz="3000" dirty="0">
                <a:solidFill>
                  <a:srgbClr val="202020"/>
                </a:solidFill>
                <a:ea typeface="Microsoft YaHei"/>
                <a:cs typeface="Microsoft YaHei"/>
              </a:rPr>
              <a:t>  </a:t>
            </a:r>
            <a:r>
              <a:rPr sz="3000" dirty="0" err="1">
                <a:solidFill>
                  <a:srgbClr val="202020"/>
                </a:solidFill>
                <a:ea typeface="Microsoft YaHei"/>
                <a:cs typeface="Microsoft YaHei"/>
              </a:rPr>
              <a:t>mj_Euler</a:t>
            </a:r>
            <a:r>
              <a:rPr sz="3000" dirty="0">
                <a:solidFill>
                  <a:srgbClr val="202020"/>
                </a:solidFill>
                <a:ea typeface="Microsoft YaHei"/>
                <a:cs typeface="Microsoft YaHei"/>
              </a:rPr>
              <a:t> / implicit / RK4  ·  </a:t>
            </a:r>
            <a:r>
              <a:rPr sz="3000" dirty="0" err="1">
                <a:solidFill>
                  <a:srgbClr val="202020"/>
                </a:solidFill>
                <a:ea typeface="Microsoft YaHei"/>
                <a:cs typeface="Microsoft YaHei"/>
              </a:rPr>
              <a:t>mjTIMER_ADVANCE</a:t>
            </a:r>
            <a:endParaRPr sz="3000" dirty="0">
              <a:solidFill>
                <a:srgbClr val="202020"/>
              </a:solidFill>
              <a:ea typeface="Microsoft YaHei"/>
              <a:cs typeface="Microsoft YaHe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11114690" cy="5001556"/>
          </a:xfrm>
        </p:spPr>
        <p:txBody>
          <a:bodyPr/>
          <a:lstStyle/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要做什么：固定初值跑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H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步，看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qpos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/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qvel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逐步发散曲线；多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 seed </a:t>
            </a:r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报分布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。</a:t>
            </a:r>
          </a:p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怎么做</a:t>
            </a:r>
            <a:endParaRPr sz="2000" b="1" dirty="0">
              <a:solidFill>
                <a:srgbClr val="202020"/>
              </a:solidFill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① </a:t>
            </a:r>
            <a:r>
              <a:rPr sz="1500" dirty="0" err="1">
                <a:ea typeface="Microsoft YaHei"/>
                <a:cs typeface="Microsoft YaHei"/>
              </a:rPr>
              <a:t>每个场景固定初值（多个</a:t>
            </a:r>
            <a:r>
              <a:rPr sz="1500" dirty="0">
                <a:ea typeface="Microsoft YaHei"/>
                <a:cs typeface="Microsoft YaHei"/>
              </a:rPr>
              <a:t> seed / </a:t>
            </a:r>
            <a:r>
              <a:rPr sz="1500" dirty="0" err="1">
                <a:ea typeface="Microsoft YaHei"/>
                <a:cs typeface="Microsoft YaHei"/>
              </a:rPr>
              <a:t>随机初始位姿</a:t>
            </a:r>
            <a:r>
              <a:rPr sz="1500" dirty="0">
                <a:ea typeface="Microsoft YaHei"/>
                <a:cs typeface="Microsoft YaHei"/>
              </a:rPr>
              <a:t>），</a:t>
            </a:r>
            <a:r>
              <a:rPr sz="1500" dirty="0" err="1">
                <a:ea typeface="Microsoft YaHei"/>
                <a:cs typeface="Microsoft YaHei"/>
              </a:rPr>
              <a:t>三路各跑满</a:t>
            </a:r>
            <a:r>
              <a:rPr sz="1500" dirty="0">
                <a:ea typeface="Microsoft YaHei"/>
                <a:cs typeface="Microsoft YaHei"/>
              </a:rPr>
              <a:t> H </a:t>
            </a:r>
            <a:r>
              <a:rPr sz="1500" dirty="0" err="1">
                <a:ea typeface="Microsoft YaHei"/>
                <a:cs typeface="Microsoft YaHei"/>
              </a:rPr>
              <a:t>步（H</a:t>
            </a:r>
            <a:r>
              <a:rPr sz="1500" dirty="0">
                <a:ea typeface="Microsoft YaHei"/>
                <a:cs typeface="Microsoft YaHei"/>
              </a:rPr>
              <a:t> ≤ </a:t>
            </a:r>
            <a:r>
              <a:rPr sz="1500" dirty="0" err="1">
                <a:ea typeface="Microsoft YaHei"/>
                <a:cs typeface="Microsoft YaHei"/>
              </a:rPr>
              <a:t>混沌时间尺度</a:t>
            </a:r>
            <a:r>
              <a:rPr sz="1500" dirty="0">
                <a:ea typeface="Microsoft YaHei"/>
                <a:cs typeface="Microsoft YaHei"/>
              </a:rPr>
              <a:t>）</a:t>
            </a:r>
          </a:p>
          <a:p>
            <a:pPr lvl="1"/>
            <a:r>
              <a:rPr sz="1500" dirty="0">
                <a:ea typeface="Microsoft YaHei"/>
                <a:cs typeface="Microsoft YaHei"/>
              </a:rPr>
              <a:t>② </a:t>
            </a:r>
            <a:r>
              <a:rPr sz="1500" dirty="0" err="1">
                <a:ea typeface="Microsoft YaHei"/>
                <a:cs typeface="Microsoft YaHei"/>
              </a:rPr>
              <a:t>每步各跑积分器；记录</a:t>
            </a:r>
            <a:r>
              <a:rPr sz="1500" dirty="0">
                <a:ea typeface="Microsoft YaHei"/>
                <a:cs typeface="Microsoft YaHei"/>
              </a:rPr>
              <a:t> ‖</a:t>
            </a:r>
            <a:r>
              <a:rPr sz="1500" dirty="0" err="1">
                <a:ea typeface="Microsoft YaHei"/>
                <a:cs typeface="Microsoft YaHei"/>
              </a:rPr>
              <a:t>qpos_npu</a:t>
            </a:r>
            <a:r>
              <a:rPr sz="1500" dirty="0">
                <a:ea typeface="Microsoft YaHei"/>
                <a:cs typeface="Microsoft YaHei"/>
              </a:rPr>
              <a:t> − qpos_fp64‖₂ / L∞ </a:t>
            </a:r>
            <a:r>
              <a:rPr sz="1500" dirty="0" err="1">
                <a:ea typeface="Microsoft YaHei"/>
                <a:cs typeface="Microsoft YaHei"/>
              </a:rPr>
              <a:t>逐步曲线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③ </a:t>
            </a:r>
            <a:r>
              <a:rPr sz="1500" dirty="0" err="1">
                <a:ea typeface="Microsoft YaHei"/>
                <a:cs typeface="Microsoft YaHei"/>
              </a:rPr>
              <a:t>保守被动场景额外记能量守恒漂移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④ </a:t>
            </a:r>
            <a:r>
              <a:rPr sz="1500" dirty="0" err="1">
                <a:ea typeface="Microsoft YaHei"/>
                <a:cs typeface="Microsoft YaHei"/>
              </a:rPr>
              <a:t>每个场景</a:t>
            </a:r>
            <a:r>
              <a:rPr sz="1500" dirty="0">
                <a:ea typeface="Microsoft YaHei"/>
                <a:cs typeface="Microsoft YaHei"/>
              </a:rPr>
              <a:t> 10–20 </a:t>
            </a:r>
            <a:r>
              <a:rPr sz="1500" dirty="0" err="1">
                <a:ea typeface="Microsoft YaHei"/>
                <a:cs typeface="Microsoft YaHei"/>
              </a:rPr>
              <a:t>个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seed，报发散曲线的</a:t>
            </a:r>
            <a:r>
              <a:rPr sz="1500" dirty="0">
                <a:ea typeface="Microsoft YaHei"/>
                <a:cs typeface="Microsoft YaHei"/>
              </a:rPr>
              <a:t> mean / p95 / p99 </a:t>
            </a:r>
            <a:r>
              <a:rPr sz="1500" dirty="0" err="1">
                <a:ea typeface="Microsoft YaHei"/>
                <a:cs typeface="Microsoft YaHei"/>
              </a:rPr>
              <a:t>带</a:t>
            </a:r>
            <a:endParaRPr sz="1500" dirty="0">
              <a:ea typeface="Microsoft YaHei"/>
              <a:cs typeface="Microsoft YaHei"/>
            </a:endParaRPr>
          </a:p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测评标准</a:t>
            </a:r>
            <a:endParaRPr sz="2000" b="1" dirty="0">
              <a:solidFill>
                <a:srgbClr val="202020"/>
              </a:solidFill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H </a:t>
            </a:r>
            <a:r>
              <a:rPr sz="1500" dirty="0" err="1">
                <a:ea typeface="Microsoft YaHei"/>
                <a:cs typeface="Microsoft YaHei"/>
              </a:rPr>
              <a:t>步内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qpos</a:t>
            </a:r>
            <a:r>
              <a:rPr sz="1500" dirty="0">
                <a:ea typeface="Microsoft YaHei"/>
                <a:cs typeface="Microsoft YaHei"/>
              </a:rPr>
              <a:t>/</a:t>
            </a:r>
            <a:r>
              <a:rPr sz="1500" dirty="0" err="1">
                <a:ea typeface="Microsoft YaHei"/>
                <a:cs typeface="Microsoft YaHei"/>
              </a:rPr>
              <a:t>qvel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发散曲线不超过</a:t>
            </a:r>
            <a:r>
              <a:rPr sz="1500" dirty="0">
                <a:ea typeface="Microsoft YaHei"/>
                <a:cs typeface="Microsoft YaHei"/>
              </a:rPr>
              <a:t> cpu_fp32 </a:t>
            </a:r>
            <a:r>
              <a:rPr sz="1500" dirty="0" err="1">
                <a:ea typeface="Microsoft YaHei"/>
                <a:cs typeface="Microsoft YaHei"/>
              </a:rPr>
              <a:t>的发散包络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>
                <a:ea typeface="Microsoft YaHei"/>
                <a:cs typeface="Microsoft YaHei"/>
              </a:rPr>
              <a:t>p50 </a:t>
            </a:r>
            <a:r>
              <a:rPr sz="1500" dirty="0" err="1">
                <a:ea typeface="Microsoft YaHei"/>
                <a:cs typeface="Microsoft YaHei"/>
              </a:rPr>
              <a:t>就大</a:t>
            </a:r>
            <a:r>
              <a:rPr sz="1500" dirty="0">
                <a:ea typeface="Microsoft YaHei"/>
                <a:cs typeface="Microsoft YaHei"/>
              </a:rPr>
              <a:t> → </a:t>
            </a:r>
            <a:r>
              <a:rPr sz="1500" dirty="0" err="1">
                <a:ea typeface="Microsoft YaHei"/>
                <a:cs typeface="Microsoft YaHei"/>
              </a:rPr>
              <a:t>系统性问题；只有少数</a:t>
            </a:r>
            <a:r>
              <a:rPr sz="1500" dirty="0">
                <a:ea typeface="Microsoft YaHei"/>
                <a:cs typeface="Microsoft YaHei"/>
              </a:rPr>
              <a:t> p99 </a:t>
            </a:r>
            <a:r>
              <a:rPr sz="1500" dirty="0" err="1">
                <a:ea typeface="Microsoft YaHei"/>
                <a:cs typeface="Microsoft YaHei"/>
              </a:rPr>
              <a:t>大</a:t>
            </a:r>
            <a:r>
              <a:rPr sz="1500" dirty="0">
                <a:ea typeface="Microsoft YaHei"/>
                <a:cs typeface="Microsoft YaHei"/>
              </a:rPr>
              <a:t> → </a:t>
            </a:r>
            <a:r>
              <a:rPr sz="1500" dirty="0" err="1">
                <a:ea typeface="Microsoft YaHei"/>
                <a:cs typeface="Microsoft YaHei"/>
              </a:rPr>
              <a:t>混沌偶发放大（对应刚体对抗攻击</a:t>
            </a:r>
            <a:r>
              <a:rPr sz="1500" dirty="0">
                <a:ea typeface="Microsoft YaHei"/>
                <a:cs typeface="Microsoft YaHei"/>
              </a:rPr>
              <a:t>）；</a:t>
            </a:r>
            <a:r>
              <a:rPr sz="1500" dirty="0" err="1">
                <a:ea typeface="Microsoft YaHei"/>
                <a:cs typeface="Microsoft YaHei"/>
              </a:rPr>
              <a:t>能量漂移</a:t>
            </a:r>
            <a:r>
              <a:rPr sz="1500" dirty="0">
                <a:ea typeface="Microsoft YaHei"/>
                <a:cs typeface="Microsoft YaHei"/>
              </a:rPr>
              <a:t> ≤ cpu_fp32 </a:t>
            </a:r>
            <a:r>
              <a:rPr sz="1500" dirty="0" err="1">
                <a:ea typeface="Microsoft YaHei"/>
                <a:cs typeface="Microsoft YaHei"/>
              </a:rPr>
              <a:t>同项</a:t>
            </a:r>
            <a:endParaRPr sz="1500" dirty="0">
              <a:ea typeface="Microsoft YaHei"/>
              <a:cs typeface="Microsoft YaHei"/>
            </a:endParaRPr>
          </a:p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可直接复用（本阶段</a:t>
            </a:r>
            <a:r>
              <a:rPr sz="2000" b="1" dirty="0">
                <a:solidFill>
                  <a:srgbClr val="202020"/>
                </a:solidFill>
                <a:ea typeface="Microsoft YaHei"/>
                <a:cs typeface="Microsoft YaHei"/>
              </a:rPr>
              <a:t>）</a:t>
            </a:r>
          </a:p>
          <a:p>
            <a:pPr lvl="1"/>
            <a:r>
              <a:rPr sz="1500" dirty="0" err="1">
                <a:ea typeface="Microsoft YaHei"/>
                <a:cs typeface="Microsoft YaHei"/>
              </a:rPr>
              <a:t>函数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mj_Euler·mj_implicit·mj_RungeKutta</a:t>
            </a:r>
            <a:r>
              <a:rPr sz="1500" dirty="0">
                <a:ea typeface="Microsoft YaHei"/>
                <a:cs typeface="Microsoft YaHei"/>
              </a:rPr>
              <a:t> + timer </a:t>
            </a:r>
            <a:r>
              <a:rPr sz="1500" dirty="0" err="1">
                <a:ea typeface="Microsoft YaHei"/>
                <a:cs typeface="Microsoft YaHei"/>
              </a:rPr>
              <a:t>ADVANCE（零改动</a:t>
            </a:r>
            <a:r>
              <a:rPr sz="1500" dirty="0">
                <a:ea typeface="Microsoft YaHei"/>
                <a:cs typeface="Microsoft YaHei"/>
              </a:rPr>
              <a:t>）；</a:t>
            </a:r>
            <a:r>
              <a:rPr sz="1500" dirty="0" err="1">
                <a:ea typeface="Microsoft YaHei"/>
                <a:cs typeface="Microsoft YaHei"/>
              </a:rPr>
              <a:t>初值存取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mj_getState</a:t>
            </a:r>
            <a:r>
              <a:rPr sz="1500" dirty="0">
                <a:ea typeface="Microsoft YaHei"/>
                <a:cs typeface="Microsoft YaHei"/>
              </a:rPr>
              <a:t>/</a:t>
            </a:r>
            <a:r>
              <a:rPr sz="1500" dirty="0" err="1">
                <a:ea typeface="Microsoft YaHei"/>
                <a:cs typeface="Microsoft YaHei"/>
              </a:rPr>
              <a:t>setState</a:t>
            </a:r>
            <a:r>
              <a:rPr sz="1500" dirty="0">
                <a:ea typeface="Microsoft YaHei"/>
                <a:cs typeface="Microsoft YaHei"/>
              </a:rPr>
              <a:t> + </a:t>
            </a:r>
            <a:r>
              <a:rPr sz="1500" dirty="0" err="1">
                <a:ea typeface="Microsoft YaHei"/>
                <a:cs typeface="Microsoft YaHei"/>
              </a:rPr>
              <a:t>mjSTATE_INTEGRATION</a:t>
            </a:r>
            <a:endParaRPr sz="1500" dirty="0">
              <a:ea typeface="Microsoft YaHei"/>
              <a:cs typeface="Microsoft YaHei"/>
            </a:endParaRPr>
          </a:p>
          <a:p>
            <a:pPr lvl="1"/>
            <a:r>
              <a:rPr sz="1500" dirty="0" err="1">
                <a:ea typeface="Microsoft YaHei"/>
                <a:cs typeface="Microsoft YaHei"/>
              </a:rPr>
              <a:t>结构参考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engine_forward_test.cc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积分器用例</a:t>
            </a:r>
            <a:r>
              <a:rPr sz="1500" dirty="0">
                <a:ea typeface="Microsoft YaHei"/>
                <a:cs typeface="Microsoft YaHei"/>
              </a:rPr>
              <a:t> + </a:t>
            </a:r>
            <a:r>
              <a:rPr sz="1500" dirty="0" err="1">
                <a:ea typeface="Microsoft YaHei"/>
                <a:cs typeface="Microsoft YaHei"/>
              </a:rPr>
              <a:t>能量</a:t>
            </a:r>
            <a:r>
              <a:rPr sz="1500" dirty="0">
                <a:ea typeface="Microsoft YaHei"/>
                <a:cs typeface="Microsoft YaHei"/>
              </a:rPr>
              <a:t>/</a:t>
            </a:r>
            <a:r>
              <a:rPr sz="1500" dirty="0" err="1">
                <a:ea typeface="Microsoft YaHei"/>
                <a:cs typeface="Microsoft YaHei"/>
              </a:rPr>
              <a:t>动量守恒不变量；多种子</a:t>
            </a:r>
            <a:r>
              <a:rPr sz="1500" dirty="0">
                <a:ea typeface="Microsoft YaHei"/>
                <a:cs typeface="Microsoft YaHei"/>
              </a:rPr>
              <a:t> </a:t>
            </a:r>
            <a:r>
              <a:rPr sz="1500" dirty="0" err="1">
                <a:ea typeface="Microsoft YaHei"/>
                <a:cs typeface="Microsoft YaHei"/>
              </a:rPr>
              <a:t>rollout：mujoco.rollout（零改动</a:t>
            </a:r>
            <a:r>
              <a:rPr sz="1500" dirty="0">
                <a:ea typeface="Microsoft YaHei"/>
                <a:cs typeface="Microsoft YaHei"/>
              </a:rPr>
              <a:t>）</a:t>
            </a:r>
          </a:p>
          <a:p>
            <a:r>
              <a:rPr sz="2000" b="1" dirty="0" err="1">
                <a:solidFill>
                  <a:srgbClr val="202020"/>
                </a:solidFill>
                <a:ea typeface="Microsoft YaHei"/>
                <a:cs typeface="Microsoft YaHei"/>
              </a:rPr>
              <a:t>与官方差别</a:t>
            </a:r>
            <a:endParaRPr sz="2000" b="1" dirty="0">
              <a:solidFill>
                <a:srgbClr val="202020"/>
              </a:solidFill>
              <a:ea typeface="Microsoft YaHei"/>
              <a:cs typeface="Microsoft YaHei"/>
            </a:endParaRPr>
          </a:p>
          <a:p>
            <a:pPr lvl="1"/>
            <a:r>
              <a:rPr sz="1500" dirty="0" err="1">
                <a:ea typeface="Microsoft YaHei"/>
                <a:cs typeface="Microsoft YaHei"/>
              </a:rPr>
              <a:t>官方测积分器数值性质（能量、稳定性、隐式</a:t>
            </a:r>
            <a:r>
              <a:rPr sz="1500" dirty="0">
                <a:ea typeface="Microsoft YaHei"/>
                <a:cs typeface="Microsoft YaHei"/>
              </a:rPr>
              <a:t> vs </a:t>
            </a:r>
            <a:r>
              <a:rPr sz="1500" dirty="0" err="1">
                <a:ea typeface="Microsoft YaHei"/>
                <a:cs typeface="Microsoft YaHei"/>
              </a:rPr>
              <a:t>显式</a:t>
            </a:r>
            <a:r>
              <a:rPr sz="1500" dirty="0">
                <a:ea typeface="Microsoft YaHei"/>
                <a:cs typeface="Microsoft YaHei"/>
              </a:rPr>
              <a:t>）；</a:t>
            </a:r>
            <a:r>
              <a:rPr sz="1500" dirty="0" err="1">
                <a:ea typeface="Microsoft YaHei"/>
                <a:cs typeface="Microsoft YaHei"/>
              </a:rPr>
              <a:t>我们测碰撞差异经</a:t>
            </a:r>
            <a:r>
              <a:rPr sz="1500" dirty="0">
                <a:ea typeface="Microsoft YaHei"/>
                <a:cs typeface="Microsoft YaHei"/>
              </a:rPr>
              <a:t> H </a:t>
            </a:r>
            <a:r>
              <a:rPr sz="1500" dirty="0" err="1">
                <a:ea typeface="Microsoft YaHei"/>
                <a:cs typeface="Microsoft YaHei"/>
              </a:rPr>
              <a:t>步放大多少</a:t>
            </a:r>
            <a:r>
              <a:rPr sz="1500" dirty="0">
                <a:ea typeface="Microsoft YaHei"/>
                <a:cs typeface="Microsoft YaHei"/>
              </a:rPr>
              <a:t>——</a:t>
            </a:r>
            <a:r>
              <a:rPr sz="1500" dirty="0" err="1">
                <a:ea typeface="Microsoft YaHei"/>
                <a:cs typeface="Microsoft YaHei"/>
              </a:rPr>
              <a:t>多种子跑分布，官方是确定性单点</a:t>
            </a:r>
            <a:r>
              <a:rPr sz="1500" dirty="0"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4 · 下游敏感度（hybrid 模式）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NPU 只跑碰撞检测（collision_only），得到 contact[]。</a:t>
            </a:r>
          </a:p>
          <a:p>
            <a:r>
              <a:rPr sz="2000">
                <a:ea typeface="Microsoft YaHei"/>
                <a:cs typeface="Microsoft YaHei"/>
              </a:rPr>
              <a:t>把这组接触喂回同一个 cpu_fp64 求解器（其余全 CPU-fp64），跑到积分。</a:t>
            </a:r>
          </a:p>
          <a:p>
            <a:r>
              <a:rPr sz="2000">
                <a:ea typeface="Microsoft YaHei"/>
                <a:cs typeface="Microsoft YaHei"/>
              </a:rPr>
              <a:t>比 qacc / 下一帧 qpos 与全 cpu_fp64 的差异；对 cpu_fp32 走同样流程做对照。</a:t>
            </a:r>
          </a:p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通过标准：‖qacc − qacc_ref‖∞ 的 p95 ≤ 阈值（与 fp32 同量级）。</a:t>
            </a:r>
          </a:p>
          <a:p>
            <a:r>
              <a:rPr sz="2000">
                <a:ea typeface="Microsoft YaHei"/>
                <a:cs typeface="Microsoft YaHei"/>
              </a:rPr>
              <a:t>回答核心问题：碰撞差异到底影不影响仿真结果。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5 · 确定性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NPU 同输入重复跑 1000 次，比每次 contact[]。</a:t>
            </a:r>
          </a:p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通过标准：bit 一致；若并行归约导致不一致，FP 抖动 ≤ 预先声明的上界，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且该上界已并入 Step 3 的阈值。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6 · 性能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复用官方 benchmark 模型：ccd_benchmark（box / boxmesh / ellipsoid / mixed）、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step_benchmark（humanoid / humanoid100 / particle）。</a:t>
            </a:r>
          </a:p>
          <a:p>
            <a:r>
              <a:rPr sz="2000">
                <a:ea typeface="Microsoft YaHei"/>
                <a:cs typeface="Microsoft YaHei"/>
              </a:rPr>
              <a:t>读 d-&gt;timer[POS_COLLISION / COL_BROAD / COL_NARROW] 和端到端 mj_step 耗时。</a:t>
            </a:r>
          </a:p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通过标准：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碰撞检测子阶段加速比 ≥ 约定目标；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mj_step 端到端不慢于纯 CPU（扣除 host↔NPU 传输后）；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加速比随场景规模单调不退化。</a:t>
            </a:r>
          </a:p>
          <a:p>
            <a:r>
              <a:rPr sz="2000">
                <a:ea typeface="Microsoft YaHei"/>
                <a:cs typeface="Microsoft YaHei"/>
              </a:rPr>
              <a:t>记账：碰撞约占 mj_step 10–15%，整步净收益 = 子阶段加速比 × 阶段占比 − 传输开销。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Step 7 · 判定 + 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>
                <a:solidFill>
                  <a:srgbClr val="C0392B"/>
                </a:solidFill>
                <a:ea typeface="Microsoft YaHei"/>
                <a:cs typeface="Microsoft YaHei"/>
              </a:rPr>
              <a:t>门禁（PASS 当且仅当）：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Step 1 环境一致；Step 2 冒烟通过；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Step 3 每阶段 gate 通过（含硬门禁：漏检率=0、法向翻转率=0、broadphase 非子集）；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Step 4 下游 qacc 偏差 p95 ≤ 阈值；Step 5 确定性满足；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Step 6 加速比达标且整步不劣化；golden checksum 未漂移。</a:t>
            </a:r>
          </a:p>
          <a:p>
            <a:r>
              <a:rPr sz="2000">
                <a:ea typeface="Microsoft YaHei"/>
                <a:cs typeface="Microsoft YaHei"/>
              </a:rPr>
              <a:t>报告：逐阶段误差表（S3 按穿透深度分桶）+ 性能账 + 结论。</a:t>
            </a:r>
          </a:p>
          <a:p>
            <a:r>
              <a:rPr sz="2000">
                <a:ea typeface="Microsoft YaHei"/>
                <a:cs typeface="Microsoft YaHei"/>
              </a:rPr>
              <a:t>三路对照：npu 相对 cpu_fp64，用 cpu_fp32 / mjwarp 两条带做上下文。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≤ fp32 → 只是精度；≤ mjwarp → 达到成熟 GPU 移植水平；&gt; mjwarp → 需解释。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02020"/>
                </a:solidFill>
                <a:ea typeface="Microsoft YaHei"/>
                <a:cs typeface="Microsoft YaHei"/>
              </a:rPr>
              <a:t>附 · 阈值来源 · 跨步骤复用 · 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ea typeface="Microsoft YaHei"/>
                <a:cs typeface="Microsoft YaHei"/>
              </a:rPr>
              <a:t>硬门禁（无条件）：漏检率=0、法向翻转率=0、broadphase 不得是 CPU 的子集。</a:t>
            </a:r>
          </a:p>
          <a:p>
            <a:r>
              <a:rPr sz="2000">
                <a:ea typeface="Microsoft YaHei"/>
                <a:cs typeface="Microsoft YaHei"/>
              </a:rPr>
              <a:t>p95 类阈值：Step 0 的 cpu_fp64 vs cpu_fp32 实测误差带 × 1.5。</a:t>
            </a:r>
          </a:p>
          <a:p>
            <a:r>
              <a:rPr sz="2000">
                <a:ea typeface="Microsoft YaHei"/>
                <a:cs typeface="Microsoft YaHei"/>
              </a:rPr>
              <a:t>CCD 参数变体：NPU 若改了 ccd_iterations / ccd_tolerance，单列一档非阻塞报告。</a:t>
            </a:r>
          </a:p>
          <a:p>
            <a:r>
              <a:rPr sz="2000">
                <a:ea typeface="Microsoft YaHei"/>
                <a:cs typeface="Microsoft YaHei"/>
              </a:rPr>
              <a:t>各阶段能复用的官方件已在对应的 Step 3.x 页列出；跨步骤共用的：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test/fixture.h·compare_model.h（脚手架，零改动）；mj_getState/setState + mjSTATE_INTEGRATION（快照）；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mjCCDStatus.{gjk_iterations,epa_iterations,epa_status}（Step 5 确定性数据源）；</a:t>
            </a:r>
          </a:p>
          <a:p>
            <a:pPr lvl="1"/>
            <a:r>
              <a:rPr sz="1500">
                <a:ea typeface="Microsoft YaHei"/>
                <a:cs typeface="Microsoft YaHei"/>
              </a:rPr>
              <a:t>ccd_benchmark_test.cc 的 TestHarness 整类复制 + step_benchmark（Step 6 性能）。</a:t>
            </a:r>
          </a:p>
          <a:p>
            <a:r>
              <a:rPr sz="2000">
                <a:ea typeface="Microsoft YaHei"/>
                <a:cs typeface="Microsoft YaHei"/>
              </a:rPr>
              <a:t>必须自己写：NPU 后端适配、cpu_fp32 构建、快照/匹配粘合、阈值标定。</a:t>
            </a:r>
          </a:p>
          <a:p>
            <a:r>
              <a:rPr sz="2000">
                <a:ea typeface="Microsoft YaHei"/>
                <a:cs typeface="Microsoft YaHei"/>
              </a:rPr>
              <a:t>现状：已实现 npu_collision_eval/（Python），Step 1/2/3/4/7 跑通，pytest 27 passed。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2434</Words>
  <Application>Microsoft Macintosh PowerPoint</Application>
  <PresentationFormat>宽屏</PresentationFormat>
  <Paragraphs>203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Microsoft YaHei</vt:lpstr>
      <vt:lpstr>Arial</vt:lpstr>
      <vt:lpstr>Calibri</vt:lpstr>
      <vt:lpstr>Office Theme</vt:lpstr>
      <vt:lpstr>NPU 碰撞检测优化 —— 评测流程（按检验步骤）</vt:lpstr>
      <vt:lpstr>流程总览</vt:lpstr>
      <vt:lpstr>对照点：MuJoCo 的运动流程（官方 Timer 体系）</vt:lpstr>
      <vt:lpstr>Step 0 · 准备（冻结基线，只做一次）</vt:lpstr>
      <vt:lpstr>Step 1 · 环境校验</vt:lpstr>
      <vt:lpstr>Step 2 · 冒烟</vt:lpstr>
      <vt:lpstr>Step 3.1a · 位置阶段 — 碰撞检测子阶段  mj_collision / POS_COLLISION→COL_BROAD/NARROW</vt:lpstr>
      <vt:lpstr>Step 3.1b · 位置阶段 — 运动学/惯量 + 构建约束 + 投影约束子阶段</vt:lpstr>
      <vt:lpstr>Step 3.2 · 速度阶段  mj_fwdVelocity / mjTIMER_VELOCITY</vt:lpstr>
      <vt:lpstr>Step 3.3 · 驱动阶段  mj_fwdActuation / mjTIMER_ACTUATION</vt:lpstr>
      <vt:lpstr>Step 3.4 · 加速度阶段  mj_fwdAcceleration（无独立 timer）</vt:lpstr>
      <vt:lpstr>Step 3.5 · 约束求解阶段  mj_fwdConstraint / mjTIMER_CONSTRAINT  （关键传播点）</vt:lpstr>
      <vt:lpstr>Step 3.6 · 积分 / 推进  mj_Euler / implicit / RK4  ·  mjTIMER_ADVANCE</vt:lpstr>
      <vt:lpstr>Step 4 · 下游敏感度（hybrid 模式）</vt:lpstr>
      <vt:lpstr>Step 5 · 确定性</vt:lpstr>
      <vt:lpstr>Step 6 · 性能</vt:lpstr>
      <vt:lpstr>Step 7 · 判定 + 报告</vt:lpstr>
      <vt:lpstr>附 · 阈值来源 · 跨步骤复用 · 现状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Zhixuan Xu (MSc Computer Science FT)</cp:lastModifiedBy>
  <cp:revision>2</cp:revision>
  <dcterms:created xsi:type="dcterms:W3CDTF">2013-01-27T09:14:16Z</dcterms:created>
  <dcterms:modified xsi:type="dcterms:W3CDTF">2026-09-09T04:33:52Z</dcterms:modified>
  <cp:category/>
</cp:coreProperties>
</file>