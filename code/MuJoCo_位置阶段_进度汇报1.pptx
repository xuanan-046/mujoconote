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60" r:id="rId4"/>
    <p:sldId id="262" r:id="rId5"/>
    <p:sldId id="263" r:id="rId6"/>
    <p:sldId id="264" r:id="rId7"/>
    <p:sldId id="266" r:id="rId8"/>
    <p:sldId id="267" r:id="rId9"/>
    <p:sldId id="276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19"/>
  </p:normalViewPr>
  <p:slideViewPr>
    <p:cSldViewPr snapToGrid="0" snapToObjects="1">
      <p:cViewPr>
        <p:scale>
          <a:sx n="110" d="100"/>
          <a:sy n="110" d="100"/>
        </p:scale>
        <p:origin x="872" y="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9C5751-C85E-EF48-B9D2-173D138DD5A8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575487-9218-AA46-A47D-86917737F6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699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dirty="0">
                <a:solidFill>
                  <a:srgbClr val="24282D"/>
                </a:solidFill>
                <a:latin typeface="Microsoft YaHei"/>
                <a:ea typeface="Microsoft YaHei"/>
              </a:rPr>
              <a:t>百分比为该步骤在</a:t>
            </a:r>
            <a:r>
              <a:rPr lang="en-US" altLang="zh-CN" sz="1200" b="0" i="0" dirty="0">
                <a:solidFill>
                  <a:srgbClr val="24282D"/>
                </a:solidFill>
                <a:latin typeface="Microsoft YaHei"/>
                <a:ea typeface="Microsoft YaHei"/>
              </a:rPr>
              <a:t>4</a:t>
            </a:r>
            <a:r>
              <a:rPr lang="zh-CN" altLang="en-US" sz="1200" b="0" i="0" dirty="0">
                <a:solidFill>
                  <a:srgbClr val="24282D"/>
                </a:solidFill>
                <a:latin typeface="Microsoft YaHei"/>
                <a:ea typeface="Microsoft YaHei"/>
              </a:rPr>
              <a:t>种测试场景下实测耗时占</a:t>
            </a:r>
            <a:r>
              <a:rPr lang="en" altLang="zh-CN" sz="1200" b="0" i="0" dirty="0" err="1">
                <a:solidFill>
                  <a:srgbClr val="24282D"/>
                </a:solidFill>
                <a:latin typeface="Microsoft YaHei"/>
                <a:ea typeface="Microsoft YaHei"/>
              </a:rPr>
              <a:t>mj_step</a:t>
            </a:r>
            <a:r>
              <a:rPr lang="zh-CN" altLang="en-US" sz="1200" b="0" i="0" dirty="0">
                <a:solidFill>
                  <a:srgbClr val="24282D"/>
                </a:solidFill>
                <a:latin typeface="Microsoft YaHei"/>
                <a:ea typeface="Microsoft YaHei"/>
              </a:rPr>
              <a:t>的平均值。下面几页先给出场景说明、阶段级、算子函数级三种粒度的实测耗时，再逐步用大白话介绍每个子步骤在算什么、测试怎么用。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75487-9218-AA46-A47D-86917737F64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2991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480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265615" y="0"/>
            <a:ext cx="2926080" cy="71628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265615" y="0"/>
            <a:ext cx="25400" cy="6858000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6FB2"/>
                </a:solidFill>
                <a:latin typeface="Microsoft YaHei"/>
                <a:ea typeface="Microsoft YaHei"/>
              </a:rPr>
              <a:t>MuJoCo 算法优化测评项目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" y="3205192"/>
            <a:ext cx="77724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 dirty="0" err="1">
                <a:solidFill>
                  <a:srgbClr val="142C4B"/>
                </a:solidFill>
                <a:latin typeface="Microsoft YaHei"/>
                <a:ea typeface="Microsoft YaHei"/>
              </a:rPr>
              <a:t>位置</a:t>
            </a:r>
            <a:r>
              <a:rPr lang="zh-CN" altLang="en-US" sz="3200" b="1" i="0" dirty="0">
                <a:solidFill>
                  <a:srgbClr val="142C4B"/>
                </a:solidFill>
                <a:latin typeface="Microsoft YaHei"/>
                <a:ea typeface="Microsoft YaHei"/>
              </a:rPr>
              <a:t>计算</a:t>
            </a:r>
            <a:r>
              <a:rPr sz="3200" b="1" i="0" dirty="0" err="1">
                <a:solidFill>
                  <a:srgbClr val="142C4B"/>
                </a:solidFill>
                <a:latin typeface="Microsoft YaHei"/>
                <a:ea typeface="Microsoft YaHei"/>
              </a:rPr>
              <a:t>阶段</a:t>
            </a:r>
            <a:r>
              <a:rPr lang="zh-CN" altLang="en-US" sz="3200" b="1" dirty="0">
                <a:solidFill>
                  <a:srgbClr val="142C4B"/>
                </a:solidFill>
                <a:latin typeface="Microsoft YaHei"/>
                <a:ea typeface="Microsoft YaHei"/>
              </a:rPr>
              <a:t>官方单元测试调研</a:t>
            </a:r>
            <a:endParaRPr sz="3200" b="1" dirty="0">
              <a:solidFill>
                <a:srgbClr val="142C4B"/>
              </a:solidFill>
              <a:latin typeface="Microsoft YaHei"/>
              <a:ea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630936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747D"/>
                </a:solidFill>
                <a:latin typeface="Microsoft YaHei"/>
                <a:ea typeface="Microsoft YaHei"/>
              </a:rPr>
              <a:t>2026年8月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8495" y="2651760"/>
            <a:ext cx="23774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4282D"/>
                </a:solidFill>
                <a:latin typeface="Microsoft YaHei"/>
                <a:ea typeface="Microsoft YaHei"/>
              </a:rPr>
              <a:t>本报告依据：
mujoco/src/engine
源码
mujoco/test/engine
官方单测
mjData.timer +
4场景逐算子实测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 dirty="0" err="1">
                <a:solidFill>
                  <a:srgbClr val="6B747D"/>
                </a:solidFill>
                <a:latin typeface="Microsoft YaHei"/>
                <a:ea typeface="Microsoft YaHei"/>
              </a:rPr>
              <a:t>MuJoCo</a:t>
            </a:r>
            <a:r>
              <a:rPr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 </a:t>
            </a:r>
            <a:r>
              <a:rPr sz="1050" b="0" i="0" dirty="0" err="1">
                <a:solidFill>
                  <a:srgbClr val="6B747D"/>
                </a:solidFill>
                <a:latin typeface="Microsoft YaHei"/>
                <a:ea typeface="Microsoft YaHei"/>
              </a:rPr>
              <a:t>算法优化测评项目</a:t>
            </a:r>
            <a:endParaRPr sz="1050" b="0" i="0" dirty="0">
              <a:solidFill>
                <a:srgbClr val="6B747D"/>
              </a:solidFill>
              <a:latin typeface="Microsoft YaHei"/>
              <a:ea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28655" y="182880"/>
            <a:ext cx="10058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1050" dirty="0">
                <a:solidFill>
                  <a:srgbClr val="6B747D"/>
                </a:solidFill>
                <a:latin typeface="Microsoft YaHei"/>
                <a:ea typeface="Microsoft YaHei"/>
              </a:rPr>
              <a:t>2</a:t>
            </a:r>
            <a:r>
              <a:rPr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 / 1</a:t>
            </a:r>
            <a:r>
              <a:rPr lang="en-US" altLang="zh-CN"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1</a:t>
            </a:r>
            <a:endParaRPr sz="1050" b="0" i="0" dirty="0">
              <a:solidFill>
                <a:srgbClr val="6B747D"/>
              </a:solidFill>
              <a:latin typeface="Microsoft YaHei"/>
              <a:ea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512064"/>
            <a:ext cx="54864" cy="42062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438912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 dirty="0" err="1">
                <a:solidFill>
                  <a:srgbClr val="142C4B"/>
                </a:solidFill>
                <a:latin typeface="Microsoft YaHei"/>
                <a:ea typeface="Microsoft YaHei"/>
              </a:rPr>
              <a:t>位置阶段整体流程</a:t>
            </a:r>
            <a:endParaRPr sz="2100" b="1" i="0" dirty="0">
              <a:solidFill>
                <a:srgbClr val="142C4B"/>
              </a:solidFill>
              <a:latin typeface="Microsoft YaHei"/>
              <a:ea typeface="Microsoft YaHe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1185855" cy="1587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dirty="0" err="1">
                <a:solidFill>
                  <a:srgbClr val="6B747D"/>
                </a:solidFill>
                <a:latin typeface="Microsoft YaHei"/>
                <a:ea typeface="Microsoft YaHei"/>
              </a:rPr>
              <a:t>MuJoCo</a:t>
            </a:r>
            <a:r>
              <a:rPr sz="1300" b="0" i="0" dirty="0">
                <a:solidFill>
                  <a:srgbClr val="6B747D"/>
                </a:solidFill>
                <a:latin typeface="Microsoft YaHei"/>
                <a:ea typeface="Microsoft YaHei"/>
              </a:rPr>
              <a:t> </a:t>
            </a:r>
            <a:r>
              <a:rPr sz="1300" b="0" i="0" dirty="0" err="1">
                <a:solidFill>
                  <a:srgbClr val="6B747D"/>
                </a:solidFill>
                <a:latin typeface="Microsoft YaHei"/>
                <a:ea typeface="Microsoft YaHei"/>
              </a:rPr>
              <a:t>每步仿真的第一阶段：先搞清楚"东西在哪、有多重、碰上了没有、规则是什么</a:t>
            </a:r>
            <a:r>
              <a:rPr sz="1300" b="0" i="0" dirty="0">
                <a:solidFill>
                  <a:srgbClr val="6B747D"/>
                </a:solidFill>
                <a:latin typeface="Microsoft YaHei"/>
                <a:ea typeface="Microsoft YaHei"/>
              </a:rPr>
              <a:t>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8007" y="201168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EAF2F9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8007" y="2084832"/>
            <a:ext cx="18288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 i="0" dirty="0" err="1">
                <a:solidFill>
                  <a:srgbClr val="142C4B"/>
                </a:solidFill>
                <a:latin typeface="Microsoft YaHei"/>
                <a:ea typeface="Microsoft YaHei"/>
              </a:rPr>
              <a:t>运动学</a:t>
            </a:r>
            <a:r>
              <a:rPr sz="1350" b="1" i="0" dirty="0">
                <a:solidFill>
                  <a:srgbClr val="142C4B"/>
                </a:solidFill>
                <a:latin typeface="Microsoft YaHei"/>
                <a:ea typeface="Microsoft YaHei"/>
              </a:rPr>
              <a:t>
（</a:t>
            </a:r>
            <a:r>
              <a:rPr sz="1350" b="1" i="0" dirty="0" err="1">
                <a:solidFill>
                  <a:srgbClr val="142C4B"/>
                </a:solidFill>
                <a:latin typeface="Microsoft YaHei"/>
                <a:ea typeface="Microsoft YaHei"/>
              </a:rPr>
              <a:t>定位姿态</a:t>
            </a:r>
            <a:r>
              <a:rPr sz="1350" b="1" i="0" dirty="0">
                <a:solidFill>
                  <a:srgbClr val="142C4B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5167" y="3182112"/>
            <a:ext cx="1435608" cy="292608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167" y="3182112"/>
            <a:ext cx="1435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~5.2% 均值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392527" y="2359152"/>
            <a:ext cx="384048" cy="320040"/>
          </a:xfrm>
          <a:prstGeom prst="rightArrow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49727" y="201168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EAF2F9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49727" y="2084832"/>
            <a:ext cx="18288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 i="0">
                <a:solidFill>
                  <a:srgbClr val="142C4B"/>
                </a:solidFill>
                <a:latin typeface="Microsoft YaHei"/>
                <a:ea typeface="Microsoft YaHei"/>
              </a:rPr>
              <a:t>质量矩阵
（有多重）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86887" y="3182112"/>
            <a:ext cx="1563624" cy="292608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86887" y="3182112"/>
            <a:ext cx="156362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~13.6% 均值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24247" y="2359152"/>
            <a:ext cx="384048" cy="320040"/>
          </a:xfrm>
          <a:prstGeom prst="rightArrow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81447" y="201168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EAF2F9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81447" y="2084832"/>
            <a:ext cx="18288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 i="0">
                <a:solidFill>
                  <a:srgbClr val="142C4B"/>
                </a:solidFill>
                <a:latin typeface="Microsoft YaHei"/>
                <a:ea typeface="Microsoft YaHei"/>
              </a:rPr>
              <a:t>碰撞检测
（碰上了吗）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18607" y="3182112"/>
            <a:ext cx="1563624" cy="292608"/>
          </a:xfrm>
          <a:prstGeom prst="roundRect">
            <a:avLst>
              <a:gd name="adj" fmla="val 8000"/>
            </a:avLst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18607" y="3182112"/>
            <a:ext cx="156362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~14.0% 均值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55967" y="2359152"/>
            <a:ext cx="384048" cy="320040"/>
          </a:xfrm>
          <a:prstGeom prst="rightArrow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513167" y="201168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EAF2F9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13167" y="2084832"/>
            <a:ext cx="18288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 i="0">
                <a:solidFill>
                  <a:srgbClr val="142C4B"/>
                </a:solidFill>
                <a:latin typeface="Microsoft YaHei"/>
                <a:ea typeface="Microsoft YaHei"/>
              </a:rPr>
              <a:t>约束整理
（列方程+分组）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50327" y="3182112"/>
            <a:ext cx="1563624" cy="292608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50327" y="3182112"/>
            <a:ext cx="156362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~11.2% 均值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387687" y="2359152"/>
            <a:ext cx="384048" cy="320040"/>
          </a:xfrm>
          <a:prstGeom prst="rightArrow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844887" y="201168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EAF2F9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44887" y="2084832"/>
            <a:ext cx="18288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 i="0">
                <a:solidFill>
                  <a:srgbClr val="142C4B"/>
                </a:solidFill>
                <a:latin typeface="Microsoft YaHei"/>
                <a:ea typeface="Microsoft YaHei"/>
              </a:rPr>
              <a:t>传动换算
（力怎么传）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82047" y="3182112"/>
            <a:ext cx="1179576" cy="292608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82047" y="3182112"/>
            <a:ext cx="117957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计入① 均值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746965"/>
            <a:ext cx="107899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 err="1">
                <a:solidFill>
                  <a:srgbClr val="24282D"/>
                </a:solidFill>
                <a:latin typeface="Microsoft YaHei"/>
                <a:ea typeface="Microsoft YaHei"/>
              </a:rPr>
              <a:t>顺序：算出每个部件的位置姿态</a:t>
            </a:r>
            <a:r>
              <a:rPr sz="1400" b="0" i="0" dirty="0">
                <a:solidFill>
                  <a:srgbClr val="24282D"/>
                </a:solidFill>
                <a:latin typeface="Microsoft YaHei"/>
                <a:ea typeface="Microsoft YaHei"/>
              </a:rPr>
              <a:t> → </a:t>
            </a:r>
            <a:r>
              <a:rPr sz="1400" b="0" i="0" dirty="0" err="1">
                <a:solidFill>
                  <a:srgbClr val="24282D"/>
                </a:solidFill>
                <a:latin typeface="Microsoft YaHei"/>
                <a:ea typeface="Microsoft YaHei"/>
              </a:rPr>
              <a:t>算出系统有多重</a:t>
            </a:r>
            <a:r>
              <a:rPr sz="1400" b="0" i="0" dirty="0">
                <a:solidFill>
                  <a:srgbClr val="24282D"/>
                </a:solidFill>
                <a:latin typeface="Microsoft YaHei"/>
                <a:ea typeface="Microsoft YaHei"/>
              </a:rPr>
              <a:t> → </a:t>
            </a:r>
            <a:r>
              <a:rPr sz="1400" b="0" i="0" dirty="0" err="1">
                <a:solidFill>
                  <a:srgbClr val="24282D"/>
                </a:solidFill>
                <a:latin typeface="Microsoft YaHei"/>
                <a:ea typeface="Microsoft YaHei"/>
              </a:rPr>
              <a:t>检测碰撞</a:t>
            </a:r>
            <a:r>
              <a:rPr sz="1400" b="0" i="0" dirty="0">
                <a:solidFill>
                  <a:srgbClr val="24282D"/>
                </a:solidFill>
                <a:latin typeface="Microsoft YaHei"/>
                <a:ea typeface="Microsoft YaHei"/>
              </a:rPr>
              <a:t> → </a:t>
            </a:r>
            <a:r>
              <a:rPr sz="1400" b="0" i="0" dirty="0" err="1">
                <a:solidFill>
                  <a:srgbClr val="24282D"/>
                </a:solidFill>
                <a:latin typeface="Microsoft YaHei"/>
                <a:ea typeface="Microsoft YaHei"/>
              </a:rPr>
              <a:t>把接触</a:t>
            </a:r>
            <a:r>
              <a:rPr sz="1400" b="0" i="0" dirty="0">
                <a:solidFill>
                  <a:srgbClr val="24282D"/>
                </a:solidFill>
                <a:latin typeface="Microsoft YaHei"/>
                <a:ea typeface="Microsoft YaHei"/>
              </a:rPr>
              <a:t>/</a:t>
            </a:r>
            <a:r>
              <a:rPr sz="1400" b="0" i="0" dirty="0" err="1">
                <a:solidFill>
                  <a:srgbClr val="24282D"/>
                </a:solidFill>
                <a:latin typeface="Microsoft YaHei"/>
                <a:ea typeface="Microsoft YaHei"/>
              </a:rPr>
              <a:t>限位等规则列成方程并分组</a:t>
            </a:r>
            <a:r>
              <a:rPr sz="1400" b="0" i="0" dirty="0">
                <a:solidFill>
                  <a:srgbClr val="24282D"/>
                </a:solidFill>
                <a:latin typeface="Microsoft YaHei"/>
                <a:ea typeface="Microsoft YaHei"/>
              </a:rPr>
              <a:t> → </a:t>
            </a:r>
            <a:r>
              <a:rPr sz="1400" b="0" i="0" dirty="0" err="1">
                <a:solidFill>
                  <a:srgbClr val="24282D"/>
                </a:solidFill>
                <a:latin typeface="Microsoft YaHei"/>
                <a:ea typeface="Microsoft YaHei"/>
              </a:rPr>
              <a:t>把驱动器的力换算到关节上</a:t>
            </a:r>
            <a:endParaRPr sz="1400" b="0" i="0" dirty="0">
              <a:solidFill>
                <a:srgbClr val="24282D"/>
              </a:solidFill>
              <a:latin typeface="Microsoft YaHei"/>
              <a:ea typeface="Microsoft YaHe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6B747D"/>
                </a:solidFill>
                <a:latin typeface="Microsoft YaHei"/>
                <a:ea typeface="Microsoft YaHei"/>
              </a:rPr>
              <a:t>五个子步骤均已完成源码+官方测试+多场景耗时实测的逐一核对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B747D"/>
                </a:solidFill>
                <a:latin typeface="Microsoft YaHei"/>
                <a:ea typeface="Microsoft YaHei"/>
              </a:rPr>
              <a:t>MuJoCo 算法优化测评项目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82880"/>
            <a:ext cx="10058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1050" dirty="0">
                <a:solidFill>
                  <a:srgbClr val="6B747D"/>
                </a:solidFill>
                <a:latin typeface="Microsoft YaHei"/>
                <a:ea typeface="Microsoft YaHei"/>
              </a:rPr>
              <a:t>3</a:t>
            </a:r>
            <a:r>
              <a:rPr lang="zh-CN" altLang="en-US" sz="1050" dirty="0">
                <a:solidFill>
                  <a:srgbClr val="6B747D"/>
                </a:solidFill>
                <a:latin typeface="Microsoft YaHei"/>
                <a:ea typeface="Microsoft YaHei"/>
              </a:rPr>
              <a:t> </a:t>
            </a:r>
            <a:r>
              <a:rPr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/ 1</a:t>
            </a:r>
            <a:r>
              <a:rPr lang="en-US" altLang="zh-CN"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1</a:t>
            </a:r>
            <a:endParaRPr sz="1050" b="0" i="0" dirty="0">
              <a:solidFill>
                <a:srgbClr val="6B747D"/>
              </a:solidFill>
              <a:latin typeface="Microsoft YaHei"/>
              <a:ea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512064"/>
            <a:ext cx="54864" cy="42062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438912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142C4B"/>
                </a:solidFill>
                <a:latin typeface="Microsoft YaHei"/>
                <a:ea typeface="Microsoft YaHei"/>
              </a:rPr>
              <a:t>测试场景说明（4种合成场景）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1185855" cy="1587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185855" cy="621792"/>
          </a:xfrm>
          <a:prstGeom prst="roundRect">
            <a:avLst>
              <a:gd name="adj" fmla="val 8000"/>
            </a:avLst>
          </a:prstGeom>
          <a:solidFill>
            <a:srgbClr val="EAF2F9"/>
          </a:solidFill>
          <a:ln w="952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170432"/>
            <a:ext cx="1072865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42C4B"/>
                </a:solidFill>
                <a:latin typeface="Microsoft YaHei"/>
                <a:ea typeface="Microsoft YaHei"/>
              </a:rPr>
              <a:t>为什么用多场景：只用一种测试场景容易"以偏概全"——比如一个接触密集的场景会让"约束整理"看起来特别重要，掩盖了其它场景下"质量矩阵""碰撞检测"可能更贵的事实。所以构造了4种特征差异很大的场景，各跑2000步取平均，并记录区间范围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695745"/>
              </p:ext>
            </p:extLst>
          </p:nvPr>
        </p:nvGraphicFramePr>
        <p:xfrm>
          <a:off x="502920" y="19659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3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场景</a:t>
                      </a:r>
                    </a:p>
                  </a:txBody>
                  <a:tcPr marL="88900" marR="88900" marT="38100" marB="38100" anchor="ctr">
                    <a:solidFill>
                      <a:srgbClr val="142C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场景特点</a:t>
                      </a:r>
                    </a:p>
                  </a:txBody>
                  <a:tcPr marL="88900" marR="88900" marT="38100" marB="38100" anchor="ctr">
                    <a:solidFill>
                      <a:srgbClr val="142C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规模</a:t>
                      </a:r>
                    </a:p>
                  </a:txBody>
                  <a:tcPr marL="88900" marR="88900" marT="38100" marB="38100" anchor="ctr">
                    <a:solidFill>
                      <a:srgbClr val="142C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用途</a:t>
                      </a:r>
                    </a:p>
                  </a:txBody>
                  <a:tcPr marL="88900" marR="88900" marT="38100" marB="38100" anchor="ctr">
                    <a:solidFill>
                      <a:srgbClr val="142C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260">
                <a:tc>
                  <a:txBody>
                    <a:bodyPr/>
                    <a:lstStyle/>
                    <a:p>
                      <a:r>
                        <a:rPr sz="1030" b="0" i="0" dirty="0" err="1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接触堆叠</a:t>
                      </a:r>
                      <a:endParaRPr sz="1030" b="0" i="0" dirty="0">
                        <a:solidFill>
                          <a:srgbClr val="24282D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64组"自由关节盒体+铰接胶囊"密集堆叠、静止接触在地面上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nv=448, ncon=256, nefc=1024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模拟机器人/物体长期堆叠接触的典型负载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7260">
                <a:tc>
                  <a:txBody>
                    <a:bodyPr/>
                    <a:lstStyle/>
                    <a:p>
                      <a:r>
                        <a:rPr sz="1030" b="0" i="0" dirty="0" err="1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稀疏无接触</a:t>
                      </a:r>
                      <a:endParaRPr sz="1030" b="0" i="0" dirty="0">
                        <a:solidFill>
                          <a:srgbClr val="24282D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同样64组部件但间距拉大、悬空自由下落，全程几乎无接触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nv=448, ncon=0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考察碰撞/约束几乎不参与工作时的耗时基线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7260">
                <a:tc>
                  <a:txBody>
                    <a:bodyPr/>
                    <a:lstStyle/>
                    <a:p>
                      <a:r>
                        <a:rPr sz="1030" b="0" i="0" dirty="0" err="1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长链高自由度</a:t>
                      </a:r>
                      <a:endParaRPr sz="1030" b="0" i="0" dirty="0">
                        <a:solidFill>
                          <a:srgbClr val="24282D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4条40关节的高自由度串联长链（类似蛇形机械臂），悬空无地面接触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nv=184, ncon=0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考察高自由度、深运动学树下运动学/质量矩阵递归计算的成本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7260">
                <a:tc>
                  <a:txBody>
                    <a:bodyPr/>
                    <a:lstStyle/>
                    <a:p>
                      <a:r>
                        <a:rPr sz="1030" b="0" i="0" dirty="0" err="1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凸体密集碰撞</a:t>
                      </a:r>
                      <a:endParaRPr sz="1030" b="0" i="0" dirty="0">
                        <a:solidFill>
                          <a:srgbClr val="24282D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36个椭球密集下落、堆叠在地面上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nv=216, ncon=36, nefc=144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 dirty="0" err="1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椭球非解析基元会走通用凸体算法</a:t>
                      </a:r>
                      <a:r>
                        <a:rPr sz="1030" b="0" i="0" dirty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(GJK/EPA)，</a:t>
                      </a:r>
                      <a:r>
                        <a:rPr sz="1030" b="0" i="0" dirty="0" err="1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考察这类算法的相对成本</a:t>
                      </a:r>
                      <a:endParaRPr sz="1030" b="0" i="0" dirty="0">
                        <a:solidFill>
                          <a:srgbClr val="24282D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6B747D"/>
                </a:solidFill>
                <a:latin typeface="Microsoft YaHei"/>
                <a:ea typeface="Microsoft YaHei"/>
              </a:rPr>
              <a:t>后续所有"实测耗时"数据均为这4种场景的平均值（并标注区间），不再是单一场景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B747D"/>
                </a:solidFill>
                <a:latin typeface="Microsoft YaHei"/>
                <a:ea typeface="Microsoft YaHei"/>
              </a:rPr>
              <a:t>MuJoCo 算法优化测评项目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82880"/>
            <a:ext cx="10058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1050" dirty="0">
                <a:solidFill>
                  <a:srgbClr val="6B747D"/>
                </a:solidFill>
                <a:latin typeface="Microsoft YaHei"/>
                <a:ea typeface="Microsoft YaHei"/>
              </a:rPr>
              <a:t>4</a:t>
            </a:r>
            <a:r>
              <a:rPr lang="zh-CN" altLang="en-US"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 </a:t>
            </a:r>
            <a:r>
              <a:rPr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/ 1</a:t>
            </a:r>
            <a:r>
              <a:rPr lang="en-US" altLang="zh-CN"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1</a:t>
            </a:r>
            <a:endParaRPr sz="1050" b="0" i="0" dirty="0">
              <a:solidFill>
                <a:srgbClr val="6B747D"/>
              </a:solidFill>
              <a:latin typeface="Microsoft YaHei"/>
              <a:ea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512064"/>
            <a:ext cx="54864" cy="42062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438912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142C4B"/>
                </a:solidFill>
                <a:latin typeface="Microsoft YaHei"/>
                <a:ea typeface="Microsoft YaHei"/>
              </a:rPr>
              <a:t>算子函数级耗时：哪些稳定很小、哪些随场景波动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1185855" cy="1587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042415"/>
            <a:ext cx="11185855" cy="777240"/>
          </a:xfrm>
          <a:prstGeom prst="roundRect">
            <a:avLst>
              <a:gd name="adj" fmla="val 8000"/>
            </a:avLst>
          </a:prstGeom>
          <a:solidFill>
            <a:srgbClr val="EAF2F9"/>
          </a:solidFill>
          <a:ln w="952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115567"/>
            <a:ext cx="10728655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42C4B"/>
                </a:solidFill>
                <a:latin typeface="Microsoft YaHei"/>
                <a:ea typeface="Microsoft YaHei"/>
              </a:rPr>
              <a:t>处理方式：单个算子函数的耗时占比对场景很敏感，波动可达10~30倍，把每个函数都算出一个精确排名意义不大、容易误导。所以只分两类：① 在4种场景下耗时占比都稳定很小的——判定为低优先级，不再深入研究；② 会随场景明显波动的——不给统一排序，需结合实际业务场景再评估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01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Microsoft YaHei"/>
                <a:ea typeface="Microsoft YaHei"/>
              </a:rPr>
              <a:t>① 稳定很小 —— 4种场景下都低于1%，不优先优化，也不再深入研究其单元测试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212848"/>
          <a:ext cx="10149840" cy="1618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函数</a:t>
                      </a:r>
                    </a:p>
                  </a:txBody>
                  <a:tcPr marL="88900" marR="88900" marT="38100" marB="38100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在干什么</a:t>
                      </a:r>
                    </a:p>
                  </a:txBody>
                  <a:tcPr marL="88900" marR="88900" marT="38100" marB="38100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4场景区间</a:t>
                      </a:r>
                    </a:p>
                  </a:txBody>
                  <a:tcPr marL="88900" marR="88900" marT="38100" marB="38100"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284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mj_camlight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更新相机/灯光位置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0.1~0.7%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284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mj_flex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更新软体(布料/柔体)形状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0.1~0.7%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284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mj_tendon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计算绳索/腱长度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0.1~0.7%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284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mj_transmission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驱动器力换算到关节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0.1~0.7%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284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mj_projectConstraint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约束方程收尾整理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0.04~0.25%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379476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6E00"/>
                </a:solidFill>
                <a:latin typeface="Microsoft YaHei"/>
                <a:ea typeface="Microsoft YaHei"/>
              </a:rPr>
              <a:t>② 随场景波动大 —— 不给统一排序，优化前建议先用实际业务场景重测一遍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4114800"/>
          <a:ext cx="10149840" cy="2342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函数</a:t>
                      </a:r>
                    </a:p>
                  </a:txBody>
                  <a:tcPr marL="88900" marR="88900" marT="38100" marB="38100" anchor="ctr">
                    <a:solidFill>
                      <a:srgbClr val="B86E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在干什么</a:t>
                      </a:r>
                    </a:p>
                  </a:txBody>
                  <a:tcPr marL="88900" marR="88900" marT="38100" marB="38100" anchor="ctr">
                    <a:solidFill>
                      <a:srgbClr val="B86E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4场景区间</a:t>
                      </a:r>
                    </a:p>
                  </a:txBody>
                  <a:tcPr marL="88900" marR="88900" marT="38100" marB="38100" anchor="ctr">
                    <a:solidFill>
                      <a:srgbClr val="B86E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</a:p>
                  </a:txBody>
                  <a:tcPr marL="88900" marR="88900" marT="38100" marB="38100" anchor="ctr">
                    <a:solidFill>
                      <a:srgbClr val="B86E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743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mj_kinematics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算出部件位置姿态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0.6~3.6%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波动约6倍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743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mj_comPos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坐标换算到重心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0.5~3.1%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波动约6倍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743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mj_makeM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拼装"重量表"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0.7~9.7%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波动约14倍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743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mj_factorM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"重量表"预处理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0.6~20.3%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波动约33倍，高自由度场景最贵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743">
                <a:tc>
                  <a:txBody>
                    <a:bodyPr/>
                    <a:lstStyle/>
                    <a:p>
                      <a:r>
                        <a:rPr sz="1000" b="0" i="0" dirty="0" err="1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碰撞·粗筛</a:t>
                      </a:r>
                      <a:endParaRPr sz="1000" b="0" i="0" dirty="0">
                        <a:solidFill>
                          <a:srgbClr val="24282D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排除明显碰不到的物体对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2.8~25.2%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波动约9倍，但均值稳居最高一档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743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碰撞·精算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精确算出接触点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0.1~6.9%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波动约69倍，接触越多越贵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743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mj_makeConstraint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把规则列成方程组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0.9~15.9%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波动约18倍，接触密集场景最贵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9743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mj_island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把部件分组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0.3~6.2%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dirty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波动约19倍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6B747D"/>
                </a:solidFill>
                <a:latin typeface="Microsoft YaHei"/>
                <a:ea typeface="Microsoft YaHei"/>
              </a:rPr>
              <a:t>①类结论后续报告不再展开；②类需要结合第08/09/11/12页各步骤介绍及实际业务模型综合判断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B747D"/>
                </a:solidFill>
                <a:latin typeface="Microsoft YaHei"/>
                <a:ea typeface="Microsoft YaHei"/>
              </a:rPr>
              <a:t>MuJoCo 算法优化测评项目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82880"/>
            <a:ext cx="10058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5</a:t>
            </a:r>
            <a:r>
              <a:rPr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 / 1</a:t>
            </a:r>
            <a:r>
              <a:rPr lang="en-US" altLang="zh-CN"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1</a:t>
            </a:r>
            <a:endParaRPr sz="1050" b="0" i="0" dirty="0">
              <a:solidFill>
                <a:srgbClr val="6B747D"/>
              </a:solidFill>
              <a:latin typeface="Microsoft YaHei"/>
              <a:ea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512064"/>
            <a:ext cx="54864" cy="42062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438912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142C4B"/>
                </a:solidFill>
                <a:latin typeface="Microsoft YaHei"/>
                <a:ea typeface="Microsoft YaHei"/>
              </a:rPr>
              <a:t>运动学定位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1185855" cy="1587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185855" cy="566928"/>
          </a:xfrm>
          <a:prstGeom prst="roundRect">
            <a:avLst>
              <a:gd name="adj" fmla="val 8000"/>
            </a:avLst>
          </a:prstGeom>
          <a:solidFill>
            <a:srgbClr val="EAF2F9"/>
          </a:solidFill>
          <a:ln w="952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170432"/>
            <a:ext cx="1072865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42C4B"/>
                </a:solidFill>
                <a:latin typeface="Microsoft YaHei"/>
                <a:ea typeface="Microsoft YaHei"/>
              </a:rPr>
              <a:t>这一步做什么：算出每个部件此刻在哪、朝向哪，再把坐标换算到以重心为原点，方便后续质量矩阵、受力分析使用；顺带更新相机/灯光位置、软体形状、绳索长度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47088"/>
            <a:ext cx="2105497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1911096"/>
            <a:ext cx="188604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42C4B"/>
                </a:solidFill>
                <a:latin typeface="Microsoft YaHei"/>
                <a:ea typeface="Microsoft YaHei"/>
              </a:rPr>
              <a:t>算位置姿态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176272"/>
            <a:ext cx="1886041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47D"/>
                </a:solidFill>
                <a:latin typeface="Microsoft YaHei"/>
                <a:ea typeface="Microsoft YaHei"/>
              </a:rPr>
              <a:t>mj_kinematics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76272"/>
            <a:ext cx="188604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 i="0">
                <a:solidFill>
                  <a:srgbClr val="1F6FB2"/>
                </a:solidFill>
                <a:latin typeface="Microsoft YaHei"/>
                <a:ea typeface="Microsoft YaHei"/>
              </a:rPr>
              <a:t>2.1%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50592"/>
            <a:ext cx="188604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B747D"/>
                </a:solidFill>
                <a:latin typeface="Microsoft YaHei"/>
                <a:ea typeface="Microsoft YaHei"/>
              </a:rPr>
              <a:t>均值·区间 0.6~3.6%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3009" y="1847088"/>
            <a:ext cx="2105497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82737" y="1911096"/>
            <a:ext cx="188604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42C4B"/>
                </a:solidFill>
                <a:latin typeface="Microsoft YaHei"/>
                <a:ea typeface="Microsoft YaHei"/>
              </a:rPr>
              <a:t>换算到重心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2737" y="2176272"/>
            <a:ext cx="1886041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47D"/>
                </a:solidFill>
                <a:latin typeface="Microsoft YaHei"/>
                <a:ea typeface="Microsoft YaHei"/>
              </a:rPr>
              <a:t>mj_comPos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2737" y="2176272"/>
            <a:ext cx="188604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 i="0">
                <a:solidFill>
                  <a:srgbClr val="1F6FB2"/>
                </a:solidFill>
                <a:latin typeface="Microsoft YaHei"/>
                <a:ea typeface="Microsoft YaHei"/>
              </a:rPr>
              <a:t>1.6%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2737" y="2450592"/>
            <a:ext cx="188604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B747D"/>
                </a:solidFill>
                <a:latin typeface="Microsoft YaHei"/>
                <a:ea typeface="Microsoft YaHei"/>
              </a:rPr>
              <a:t>均值·区间 0.5~3.1%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43098" y="1847088"/>
            <a:ext cx="2105497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9C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52826" y="1911096"/>
            <a:ext cx="188604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42C4B"/>
                </a:solidFill>
                <a:latin typeface="Microsoft YaHei"/>
                <a:ea typeface="Microsoft YaHei"/>
              </a:rPr>
              <a:t>相机/灯光更新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2826" y="2176272"/>
            <a:ext cx="1886041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47D"/>
                </a:solidFill>
                <a:latin typeface="Microsoft YaHei"/>
                <a:ea typeface="Microsoft YaHei"/>
              </a:rPr>
              <a:t>mj_camlight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2826" y="2176272"/>
            <a:ext cx="188604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 i="0">
                <a:solidFill>
                  <a:srgbClr val="B9C0C7"/>
                </a:solidFill>
                <a:latin typeface="Microsoft YaHei"/>
                <a:ea typeface="Microsoft YaHei"/>
              </a:rPr>
              <a:t>0.4%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2826" y="2450592"/>
            <a:ext cx="188604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B747D"/>
                </a:solidFill>
                <a:latin typeface="Microsoft YaHei"/>
                <a:ea typeface="Microsoft YaHei"/>
              </a:rPr>
              <a:t>均值·区间 0.1~0.7%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3187" y="1847088"/>
            <a:ext cx="2105497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9C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22915" y="1911096"/>
            <a:ext cx="188604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42C4B"/>
                </a:solidFill>
                <a:latin typeface="Microsoft YaHei"/>
                <a:ea typeface="Microsoft YaHei"/>
              </a:rPr>
              <a:t>软体形状更新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2915" y="2176272"/>
            <a:ext cx="1886041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47D"/>
                </a:solidFill>
                <a:latin typeface="Microsoft YaHei"/>
                <a:ea typeface="Microsoft YaHei"/>
              </a:rPr>
              <a:t>mj_flex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2915" y="2176272"/>
            <a:ext cx="188604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 i="0">
                <a:solidFill>
                  <a:srgbClr val="B9C0C7"/>
                </a:solidFill>
                <a:latin typeface="Microsoft YaHei"/>
                <a:ea typeface="Microsoft YaHei"/>
              </a:rPr>
              <a:t>0.4%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2915" y="2450592"/>
            <a:ext cx="188604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B747D"/>
                </a:solidFill>
                <a:latin typeface="Microsoft YaHei"/>
                <a:ea typeface="Microsoft YaHei"/>
              </a:rPr>
              <a:t>均值·区间 0.1~0.7%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83276" y="1847088"/>
            <a:ext cx="2105497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9C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93004" y="1911096"/>
            <a:ext cx="188604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42C4B"/>
                </a:solidFill>
                <a:latin typeface="Microsoft YaHei"/>
                <a:ea typeface="Microsoft YaHei"/>
              </a:rPr>
              <a:t>绳索长度计算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3004" y="2176272"/>
            <a:ext cx="1886041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47D"/>
                </a:solidFill>
                <a:latin typeface="Microsoft YaHei"/>
                <a:ea typeface="Microsoft YaHei"/>
              </a:rPr>
              <a:t>mj_tendon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3004" y="2176272"/>
            <a:ext cx="188604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 i="0">
                <a:solidFill>
                  <a:srgbClr val="B9C0C7"/>
                </a:solidFill>
                <a:latin typeface="Microsoft YaHei"/>
                <a:ea typeface="Microsoft YaHei"/>
              </a:rPr>
              <a:t>0.4%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3004" y="2450592"/>
            <a:ext cx="188604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B747D"/>
                </a:solidFill>
                <a:latin typeface="Microsoft YaHei"/>
                <a:ea typeface="Microsoft YaHei"/>
              </a:rPr>
              <a:t>均值·区间 0.1~0.7%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28529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6FB2"/>
                </a:solidFill>
                <a:latin typeface="Microsoft YaHei"/>
                <a:ea typeface="Microsoft YaHei"/>
              </a:rPr>
              <a:t>官方测试在验证什么（engine_core_smooth_test.cc）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02920" y="3218688"/>
          <a:ext cx="107442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测试在做什么</a:t>
                      </a:r>
                    </a:p>
                  </a:txBody>
                  <a:tcPr marL="101600" marR="101600" marT="38100" marB="38100" anchor="ctr">
                    <a:solidFill>
                      <a:srgbClr val="142C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验证的是哪一点</a:t>
                      </a:r>
                    </a:p>
                  </a:txBody>
                  <a:tcPr marL="101600" marR="101600" marT="38100" marB="38100" anchor="ctr">
                    <a:solidFill>
                      <a:srgbClr val="142C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1F6FB2"/>
                          </a:solidFill>
                          <a:latin typeface="Microsoft YaHei"/>
                          <a:ea typeface="Microsoft YaHei"/>
                        </a:rPr>
                        <a:t>【基础坐标校验】</a:t>
                      </a:r>
                    </a:p>
                    <a:p>
                      <a:r>
                        <a:rPr sz="11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用一个简单模型，检查最基础的坐标计算对不对（如 MjKinematicsWorldXipos 用例）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验证部件位置计算的底层公式没写错，是后续所有计算的地基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1F6FB2"/>
                          </a:solidFill>
                          <a:latin typeface="Microsoft YaHei"/>
                          <a:ea typeface="Microsoft YaHei"/>
                        </a:rPr>
                        <a:t>【绳索/腱物理规律校验】</a:t>
                      </a:r>
                    </a:p>
                    <a:p>
                      <a:r>
                        <a:rPr sz="11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检查绳索/腱的长度、配重计算，并和能量守恒等物理规律做比对（TendonJdot 等用例）</a:t>
                      </a:r>
                    </a:p>
                  </a:txBody>
                  <a:tcPr marL="101600" marR="1016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验证绳索/腱相关的计算符合基本物理规律</a:t>
                      </a:r>
                    </a:p>
                  </a:txBody>
                  <a:tcPr marL="101600" marR="101600" marT="50800" marB="50800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1F6FB2"/>
                          </a:solidFill>
                          <a:latin typeface="Microsoft YaHei"/>
                          <a:ea typeface="Microsoft YaHei"/>
                        </a:rPr>
                        <a:t>【大角度姿态稳定性】</a:t>
                      </a:r>
                    </a:p>
                    <a:p>
                      <a:r>
                        <a:rPr sz="11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让关节做大幅度旋转，看姿态计算会不会算错或"转飞"（SO3LargeAngleConvergence 等用例）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验证旋转姿态（用四元数表示）在大角度下依然稳定准确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6B747D"/>
                </a:solidFill>
                <a:latin typeface="Microsoft YaHei"/>
                <a:ea typeface="Microsoft YaHei"/>
              </a:rPr>
              <a:t>耗时权重均值约5.2%（占mj_step）· 怎么用于优化回归见后文优化测评应用指南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B747D"/>
                </a:solidFill>
                <a:latin typeface="Microsoft YaHei"/>
                <a:ea typeface="Microsoft YaHei"/>
              </a:rPr>
              <a:t>MuJoCo 算法优化测评项目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82880"/>
            <a:ext cx="10058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6</a:t>
            </a:r>
            <a:r>
              <a:rPr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 / 1</a:t>
            </a:r>
            <a:r>
              <a:rPr lang="en-US" altLang="zh-CN"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1</a:t>
            </a:r>
            <a:endParaRPr sz="1050" b="0" i="0" dirty="0">
              <a:solidFill>
                <a:srgbClr val="6B747D"/>
              </a:solidFill>
              <a:latin typeface="Microsoft YaHei"/>
              <a:ea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512064"/>
            <a:ext cx="54864" cy="42062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438912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142C4B"/>
                </a:solidFill>
                <a:latin typeface="Microsoft YaHei"/>
                <a:ea typeface="Microsoft YaHei"/>
              </a:rPr>
              <a:t>质量矩阵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1185855" cy="1587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185855" cy="621792"/>
          </a:xfrm>
          <a:prstGeom prst="roundRect">
            <a:avLst>
              <a:gd name="adj" fmla="val 8000"/>
            </a:avLst>
          </a:prstGeom>
          <a:solidFill>
            <a:srgbClr val="FCF1DD"/>
          </a:solidFill>
          <a:ln w="9525">
            <a:solidFill>
              <a:srgbClr val="B8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169649"/>
            <a:ext cx="10728655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 dirty="0">
                <a:solidFill>
                  <a:srgbClr val="7A4A00"/>
                </a:solidFill>
                <a:latin typeface="Microsoft YaHei"/>
                <a:ea typeface="Microsoft YaHei"/>
              </a:rPr>
              <a:t>这一步做什么：算清楚整个系统有多重、多难推动：把每个部件的重量和形状拼成一张"重量表"，再预处理成方便快速求解的形式，供后续"力怎么让物体动起来"的计算使用</a:t>
            </a:r>
            <a:r>
              <a:rPr lang="zh-CN" altLang="en-US" sz="1250" b="0" i="0" dirty="0">
                <a:solidFill>
                  <a:srgbClr val="7A4A00"/>
                </a:solidFill>
                <a:latin typeface="Microsoft YaHei"/>
                <a:ea typeface="Microsoft YaHei"/>
              </a:rPr>
              <a:t>；</a:t>
            </a:r>
            <a:r>
              <a:rPr lang="zh-CN" altLang="en-US" sz="1250" dirty="0">
                <a:solidFill>
                  <a:srgbClr val="7A4A00"/>
                </a:solidFill>
                <a:latin typeface="Microsoft YaHei"/>
                <a:ea typeface="Microsoft YaHei"/>
              </a:rPr>
              <a:t> </a:t>
            </a:r>
            <a:r>
              <a:rPr sz="1250" b="0" i="0" dirty="0" err="1">
                <a:solidFill>
                  <a:srgbClr val="7A4A00"/>
                </a:solidFill>
                <a:latin typeface="Microsoft YaHei"/>
                <a:ea typeface="Microsoft YaHei"/>
              </a:rPr>
              <a:t>在高自由度长链场景下这一步的开销显著更高，均值排名进入前列</a:t>
            </a:r>
            <a:endParaRPr sz="1250" b="0" i="0" dirty="0">
              <a:solidFill>
                <a:srgbClr val="7A4A00"/>
              </a:solidFill>
              <a:latin typeface="Microsoft YaHei"/>
              <a:ea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938528"/>
            <a:ext cx="5510631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2002536"/>
            <a:ext cx="52911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42C4B"/>
                </a:solidFill>
                <a:latin typeface="Microsoft YaHei"/>
                <a:ea typeface="Microsoft YaHei"/>
              </a:rPr>
              <a:t>拼装重量表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267712"/>
            <a:ext cx="529117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47D"/>
                </a:solidFill>
                <a:latin typeface="Microsoft YaHei"/>
                <a:ea typeface="Microsoft YaHei"/>
              </a:rPr>
              <a:t>mj_makeM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267712"/>
            <a:ext cx="529117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 i="0">
                <a:solidFill>
                  <a:srgbClr val="1F6FB2"/>
                </a:solidFill>
                <a:latin typeface="Microsoft YaHei"/>
                <a:ea typeface="Microsoft YaHei"/>
              </a:rPr>
              <a:t>4.9%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542032"/>
            <a:ext cx="529117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B747D"/>
                </a:solidFill>
                <a:latin typeface="Microsoft YaHei"/>
                <a:ea typeface="Microsoft YaHei"/>
              </a:rPr>
              <a:t>均值·区间 0.7~9.7%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1938528"/>
            <a:ext cx="5510631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8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7871" y="2002536"/>
            <a:ext cx="52911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42C4B"/>
                </a:solidFill>
                <a:latin typeface="Microsoft YaHei"/>
                <a:ea typeface="Microsoft YaHei"/>
              </a:rPr>
              <a:t>重量表预处理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7871" y="2267712"/>
            <a:ext cx="529117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47D"/>
                </a:solidFill>
                <a:latin typeface="Microsoft YaHei"/>
                <a:ea typeface="Microsoft YaHei"/>
              </a:rPr>
              <a:t>mj_factorM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7871" y="2267712"/>
            <a:ext cx="529117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 i="0" dirty="0">
                <a:solidFill>
                  <a:srgbClr val="B86E00"/>
                </a:solidFill>
                <a:latin typeface="Microsoft YaHei"/>
                <a:ea typeface="Microsoft YaHei"/>
              </a:rPr>
              <a:t>8.7%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7871" y="2542032"/>
            <a:ext cx="529117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B747D"/>
                </a:solidFill>
                <a:latin typeface="Microsoft YaHei"/>
                <a:ea typeface="Microsoft YaHei"/>
              </a:rPr>
              <a:t>均值·区间 0.6~20.3%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4436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6FB2"/>
                </a:solidFill>
                <a:latin typeface="Microsoft YaHei"/>
                <a:ea typeface="Microsoft YaHei"/>
              </a:rPr>
              <a:t>官方测试在验证什么（engine_core_smooth_test.cc + engine_support_test.cc）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3310128"/>
          <a:ext cx="10744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测试在做什么</a:t>
                      </a:r>
                    </a:p>
                  </a:txBody>
                  <a:tcPr marL="101600" marR="101600" marT="38100" marB="38100" anchor="ctr">
                    <a:solidFill>
                      <a:srgbClr val="142C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验证的是哪一点</a:t>
                      </a:r>
                    </a:p>
                  </a:txBody>
                  <a:tcPr marL="101600" marR="101600" marT="38100" marB="38100" anchor="ctr">
                    <a:solidFill>
                      <a:srgbClr val="142C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F6FB2"/>
                          </a:solidFill>
                          <a:latin typeface="Microsoft YaHei"/>
                          <a:ea typeface="Microsoft YaHei"/>
                        </a:rPr>
                        <a:t>【分解精度校验】</a:t>
                      </a:r>
                    </a:p>
                    <a:p>
                      <a:r>
                        <a:rPr sz="115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检查"重量表"预处理结果和反推计算结果是否一致（FactorI/SolveLD 等用例）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验证质量矩阵预处理和快速求解算法的准确性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F6FB2"/>
                          </a:solidFill>
                          <a:latin typeface="Microsoft YaHei"/>
                          <a:ea typeface="Microsoft YaHei"/>
                        </a:rPr>
                        <a:t>【稀疏vs稠密等价性】</a:t>
                      </a:r>
                    </a:p>
                    <a:p>
                      <a:r>
                        <a:rPr sz="115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两种存法（省内存 vs 完整展开）算出的结果要完全一样（mulM/FullM 等用例）</a:t>
                      </a:r>
                    </a:p>
                  </a:txBody>
                  <a:tcPr marL="101600" marR="1016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验证"省内存的快速算法"和"最直接的算法"结果一致——以后优化这块代码最该跑这组测试</a:t>
                      </a:r>
                    </a:p>
                  </a:txBody>
                  <a:tcPr marL="101600" marR="101600" marT="50800" marB="50800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6B747D"/>
                </a:solidFill>
                <a:latin typeface="Microsoft YaHei"/>
                <a:ea typeface="Microsoft YaHei"/>
              </a:rPr>
              <a:t>耗时权重均值约13.6%（占mj_step），4场景中最高达28.2%（长链高自由度场景）· 怎么用于优化回归见后文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B747D"/>
                </a:solidFill>
                <a:latin typeface="Microsoft YaHei"/>
                <a:ea typeface="Microsoft YaHei"/>
              </a:rPr>
              <a:t>MuJoCo 算法优化测评项目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82880"/>
            <a:ext cx="10058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altLang="zh-CN" sz="1050" dirty="0">
                <a:solidFill>
                  <a:srgbClr val="6B747D"/>
                </a:solidFill>
                <a:latin typeface="Microsoft YaHei"/>
                <a:ea typeface="Microsoft YaHei"/>
              </a:rPr>
              <a:t>07</a:t>
            </a:r>
            <a:r>
              <a:rPr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 / 1</a:t>
            </a:r>
            <a:r>
              <a:rPr lang="en-US" altLang="zh-CN"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1</a:t>
            </a:r>
            <a:endParaRPr sz="1050" b="0" i="0" dirty="0">
              <a:solidFill>
                <a:srgbClr val="6B747D"/>
              </a:solidFill>
              <a:latin typeface="Microsoft YaHei"/>
              <a:ea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512064"/>
            <a:ext cx="54864" cy="42062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438912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142C4B"/>
                </a:solidFill>
                <a:latin typeface="Microsoft YaHei"/>
                <a:ea typeface="Microsoft YaHei"/>
              </a:rPr>
              <a:t>碰撞检测（哪些物体碰上了）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1185855" cy="1587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185855" cy="621792"/>
          </a:xfrm>
          <a:prstGeom prst="roundRect">
            <a:avLst>
              <a:gd name="adj" fmla="val 8000"/>
            </a:avLst>
          </a:prstGeom>
          <a:solidFill>
            <a:srgbClr val="FCF1DD"/>
          </a:solidFill>
          <a:ln w="9525">
            <a:solidFill>
              <a:srgbClr val="B8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170432"/>
            <a:ext cx="1072865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 dirty="0">
                <a:solidFill>
                  <a:srgbClr val="7A4A00"/>
                </a:solidFill>
                <a:latin typeface="Microsoft YaHei"/>
                <a:ea typeface="Microsoft YaHei"/>
              </a:rPr>
              <a:t>这一步做什么：先粗略排除明显碰不到的物体对，相当于"</a:t>
            </a:r>
            <a:r>
              <a:rPr sz="1250" b="0" i="0" dirty="0" err="1">
                <a:solidFill>
                  <a:srgbClr val="7A4A00"/>
                </a:solidFill>
                <a:latin typeface="Microsoft YaHei"/>
                <a:ea typeface="Microsoft YaHei"/>
              </a:rPr>
              <a:t>海选</a:t>
            </a:r>
            <a:r>
              <a:rPr sz="1250" b="0" i="0" dirty="0">
                <a:solidFill>
                  <a:srgbClr val="7A4A00"/>
                </a:solidFill>
                <a:latin typeface="Microsoft YaHei"/>
                <a:ea typeface="Microsoft YaHei"/>
              </a:rPr>
              <a:t>"；</a:t>
            </a:r>
            <a:r>
              <a:rPr sz="1250" b="0" i="0" dirty="0" err="1">
                <a:solidFill>
                  <a:srgbClr val="7A4A00"/>
                </a:solidFill>
                <a:latin typeface="Microsoft YaHei"/>
                <a:ea typeface="Microsoft YaHei"/>
              </a:rPr>
              <a:t>再精确算出真正碰上的物体之间的接触位置、方向、深度</a:t>
            </a:r>
            <a:r>
              <a:rPr sz="1250" b="0" i="0" dirty="0">
                <a:solidFill>
                  <a:srgbClr val="7A4A00"/>
                </a:solidFill>
                <a:latin typeface="Microsoft YaHei"/>
                <a:ea typeface="Microsoft YaHei"/>
              </a:rPr>
              <a:t> </a:t>
            </a:r>
            <a:endParaRPr lang="en-US" sz="1250" b="0" i="0" dirty="0">
              <a:solidFill>
                <a:srgbClr val="7A4A00"/>
              </a:solidFill>
              <a:latin typeface="Microsoft YaHei"/>
              <a:ea typeface="Microsoft YaHei"/>
            </a:endParaRPr>
          </a:p>
          <a:p>
            <a:pPr algn="l"/>
            <a:r>
              <a:rPr sz="1250" b="0" i="0" dirty="0">
                <a:solidFill>
                  <a:srgbClr val="7A4A00"/>
                </a:solidFill>
                <a:latin typeface="Microsoft YaHei"/>
                <a:ea typeface="Microsoft YaHei"/>
              </a:rPr>
              <a:t>这一步不管有没有真碰撞都要做，均值反而是4场景里排名最高的单项之一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38528"/>
            <a:ext cx="5510631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8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2002536"/>
            <a:ext cx="52911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42C4B"/>
                </a:solidFill>
                <a:latin typeface="Microsoft YaHei"/>
                <a:ea typeface="Microsoft YaHei"/>
              </a:rPr>
              <a:t>粗筛剔除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267712"/>
            <a:ext cx="529117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47D"/>
                </a:solidFill>
                <a:latin typeface="Microsoft YaHei"/>
                <a:ea typeface="Microsoft YaHei"/>
              </a:rPr>
              <a:t>broadphase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267712"/>
            <a:ext cx="529117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 i="0">
                <a:solidFill>
                  <a:srgbClr val="B86E00"/>
                </a:solidFill>
                <a:latin typeface="Microsoft YaHei"/>
                <a:ea typeface="Microsoft YaHei"/>
              </a:rPr>
              <a:t>11.3%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542032"/>
            <a:ext cx="529117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B747D"/>
                </a:solidFill>
                <a:latin typeface="Microsoft YaHei"/>
                <a:ea typeface="Microsoft YaHei"/>
              </a:rPr>
              <a:t>均值·区间 2.8~25.2%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1938528"/>
            <a:ext cx="5510631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7871" y="2002536"/>
            <a:ext cx="52911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42C4B"/>
                </a:solidFill>
                <a:latin typeface="Microsoft YaHei"/>
                <a:ea typeface="Microsoft YaHei"/>
              </a:rPr>
              <a:t>精确求交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7871" y="2267712"/>
            <a:ext cx="529117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47D"/>
                </a:solidFill>
                <a:latin typeface="Microsoft YaHei"/>
                <a:ea typeface="Microsoft YaHei"/>
              </a:rPr>
              <a:t>narrowphase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7871" y="2267712"/>
            <a:ext cx="529117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 i="0">
                <a:solidFill>
                  <a:srgbClr val="1F6FB2"/>
                </a:solidFill>
                <a:latin typeface="Microsoft YaHei"/>
                <a:ea typeface="Microsoft YaHei"/>
              </a:rPr>
              <a:t>2.7%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7871" y="2542032"/>
            <a:ext cx="529117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B747D"/>
                </a:solidFill>
                <a:latin typeface="Microsoft YaHei"/>
                <a:ea typeface="Microsoft YaHei"/>
              </a:rPr>
              <a:t>均值·区间 0.1~6.9%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4436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6FB2"/>
                </a:solidFill>
                <a:latin typeface="Microsoft YaHei"/>
                <a:ea typeface="Microsoft YaHei"/>
              </a:rPr>
              <a:t>官方测试在验证什么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3310128"/>
          <a:ext cx="10744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13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测试在做什么</a:t>
                      </a:r>
                    </a:p>
                  </a:txBody>
                  <a:tcPr marL="101600" marR="101600" marT="38100" marB="38100" anchor="ctr">
                    <a:solidFill>
                      <a:srgbClr val="142C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验证的是哪一点</a:t>
                      </a:r>
                    </a:p>
                  </a:txBody>
                  <a:tcPr marL="101600" marR="101600" marT="38100" marB="38100" anchor="ctr">
                    <a:solidFill>
                      <a:srgbClr val="142C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30" b="1" i="0">
                          <a:solidFill>
                            <a:srgbClr val="1F6FB2"/>
                          </a:solidFill>
                          <a:latin typeface="Microsoft YaHei"/>
                          <a:ea typeface="Microsoft YaHei"/>
                        </a:rPr>
                        <a:t>【整体调度可靠性】</a:t>
                      </a:r>
                    </a:p>
                    <a:p>
                      <a:r>
                        <a:rPr sz="98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跑一个包含多种形状的完整场景，检查接触点数量、父子部件过滤规则、极端/空场景会不会出错（AllCollisions 等用例）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验证碰撞检测的调度逻辑整体可靠，不漏判、不错判、不崩溃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30" b="1" i="0">
                          <a:solidFill>
                            <a:srgbClr val="1F6FB2"/>
                          </a:solidFill>
                          <a:latin typeface="Microsoft YaHei"/>
                          <a:ea typeface="Microsoft YaHei"/>
                        </a:rPr>
                        <a:t>【薄物体边界情况】</a:t>
                      </a:r>
                    </a:p>
                    <a:p>
                      <a:r>
                        <a:rPr sz="98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专测盒子相碰的场景，尤其是薄盒子——容易"穿过去了没检测到"或"没碰上却报告深穿透"（ThinBox* 等用例）</a:t>
                      </a:r>
                    </a:p>
                  </a:txBody>
                  <a:tcPr marL="101600" marR="1016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验证盒子碰撞算法的精度，尤其薄物体这类最容易出错的边界情况</a:t>
                      </a:r>
                    </a:p>
                  </a:txBody>
                  <a:tcPr marL="101600" marR="101600" marT="50800" marB="50800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30" b="1" i="0">
                          <a:solidFill>
                            <a:srgbClr val="1F6FB2"/>
                          </a:solidFill>
                          <a:latin typeface="Microsoft YaHei"/>
                          <a:ea typeface="Microsoft YaHei"/>
                        </a:rPr>
                        <a:t>【凸体碰撞全面覆盖】</a:t>
                      </a:r>
                    </a:p>
                    <a:p>
                      <a:r>
                        <a:rPr sz="98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覆盖球、盒子、网格、圆柱、椭球等几十种形状组合和特殊摆放方式，是覆盖最全的一批测试（约47个用例）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验证通用凸体碰撞算法（业内常用的GJK/EPA方法）在各种复杂形状下依然准确、能收敛出结果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30" b="1" i="0">
                          <a:solidFill>
                            <a:srgbClr val="1F6FB2"/>
                          </a:solidFill>
                          <a:latin typeface="Microsoft YaHei"/>
                          <a:ea typeface="Microsoft YaHei"/>
                        </a:rPr>
                        <a:t>【特殊几何形状】</a:t>
                      </a:r>
                    </a:p>
                    <a:p>
                      <a:r>
                        <a:rPr sz="98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测试没有常规参考坐标系的几何体、地形（高度场）、以及用"隐函数"描述的形状之间的碰撞</a:t>
                      </a:r>
                    </a:p>
                  </a:txBody>
                  <a:tcPr marL="101600" marR="1016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验证几种特殊几何表示方式下碰撞检测依然正确</a:t>
                      </a:r>
                    </a:p>
                  </a:txBody>
                  <a:tcPr marL="101600" marR="101600" marT="50800" marB="50800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6B747D"/>
                </a:solidFill>
                <a:latin typeface="Microsoft YaHei"/>
                <a:ea typeface="Microsoft YaHei"/>
              </a:rPr>
              <a:t>耗时权重均值约14.0%（粗筛+精算），是位置阶段测试规模最大、数值稳定性回归最集中的模块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B747D"/>
                </a:solidFill>
                <a:latin typeface="Microsoft YaHei"/>
                <a:ea typeface="Microsoft YaHei"/>
              </a:rPr>
              <a:t>MuJoCo 算法优化测评项目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82880"/>
            <a:ext cx="10058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altLang="zh-CN" sz="1050" dirty="0">
                <a:solidFill>
                  <a:srgbClr val="6B747D"/>
                </a:solidFill>
                <a:latin typeface="Microsoft YaHei"/>
                <a:ea typeface="Microsoft YaHei"/>
              </a:rPr>
              <a:t>08</a:t>
            </a:r>
            <a:r>
              <a:rPr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 / 1</a:t>
            </a:r>
            <a:r>
              <a:rPr lang="en-US" altLang="zh-CN"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1</a:t>
            </a:r>
            <a:endParaRPr sz="1050" b="0" i="0" dirty="0">
              <a:solidFill>
                <a:srgbClr val="6B747D"/>
              </a:solidFill>
              <a:latin typeface="Microsoft YaHei"/>
              <a:ea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512064"/>
            <a:ext cx="54864" cy="42062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438912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142C4B"/>
                </a:solidFill>
                <a:latin typeface="Microsoft YaHei"/>
                <a:ea typeface="Microsoft YaHei"/>
              </a:rPr>
              <a:t>约束整理与分组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1185855" cy="1587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185855" cy="640080"/>
          </a:xfrm>
          <a:prstGeom prst="roundRect">
            <a:avLst>
              <a:gd name="adj" fmla="val 8000"/>
            </a:avLst>
          </a:prstGeom>
          <a:solidFill>
            <a:srgbClr val="EAF2F9"/>
          </a:solidFill>
          <a:ln w="952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8268" y="1170432"/>
            <a:ext cx="10728655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 dirty="0" err="1">
                <a:solidFill>
                  <a:srgbClr val="142C4B"/>
                </a:solidFill>
                <a:latin typeface="Microsoft YaHei"/>
                <a:ea typeface="Microsoft YaHei"/>
              </a:rPr>
              <a:t>这一步做什么：把接触、关节限位、摩擦等所有物理"规则"汇总列成一组方程，再把互不相关的部件分成一组一组，方便分开并行求解</a:t>
            </a:r>
            <a:r>
              <a:rPr sz="1250" b="0" i="0" dirty="0">
                <a:solidFill>
                  <a:srgbClr val="142C4B"/>
                </a:solidFill>
                <a:latin typeface="Microsoft YaHei"/>
                <a:ea typeface="Microsoft YaHei"/>
              </a:rPr>
              <a:t> </a:t>
            </a:r>
            <a:endParaRPr lang="en-US" sz="1250" b="0" i="0" dirty="0">
              <a:solidFill>
                <a:srgbClr val="142C4B"/>
              </a:solidFill>
              <a:latin typeface="Microsoft YaHei"/>
              <a:ea typeface="Microsoft YaHei"/>
            </a:endParaRPr>
          </a:p>
          <a:p>
            <a:pPr algn="l"/>
            <a:r>
              <a:rPr sz="1250" b="0" i="0" dirty="0" err="1">
                <a:solidFill>
                  <a:srgbClr val="142C4B"/>
                </a:solidFill>
                <a:latin typeface="Microsoft YaHei"/>
                <a:ea typeface="Microsoft YaHei"/>
              </a:rPr>
              <a:t>此前单一接触密集场景下这一步排名第一</a:t>
            </a:r>
            <a:r>
              <a:rPr sz="1250" b="0" i="0" dirty="0">
                <a:solidFill>
                  <a:srgbClr val="142C4B"/>
                </a:solidFill>
                <a:latin typeface="Microsoft YaHei"/>
                <a:ea typeface="Microsoft YaHei"/>
              </a:rPr>
              <a:t>(约21%)，取多场景均值后降到约11%——</a:t>
            </a:r>
            <a:r>
              <a:rPr sz="1250" b="0" i="0" dirty="0" err="1">
                <a:solidFill>
                  <a:srgbClr val="142C4B"/>
                </a:solidFill>
                <a:latin typeface="Microsoft YaHei"/>
                <a:ea typeface="Microsoft YaHei"/>
              </a:rPr>
              <a:t>因为无接触场景里这一步几乎不耗时</a:t>
            </a:r>
            <a:endParaRPr sz="1250" b="0" i="0" dirty="0">
              <a:solidFill>
                <a:srgbClr val="142C4B"/>
              </a:solidFill>
              <a:latin typeface="Microsoft YaHei"/>
              <a:ea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956816"/>
            <a:ext cx="361889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2020824"/>
            <a:ext cx="339943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42C4B"/>
                </a:solidFill>
                <a:latin typeface="Microsoft YaHei"/>
                <a:ea typeface="Microsoft YaHei"/>
              </a:rPr>
              <a:t>列方程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286000"/>
            <a:ext cx="339943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47D"/>
                </a:solidFill>
                <a:latin typeface="Microsoft YaHei"/>
                <a:ea typeface="Microsoft YaHei"/>
              </a:rPr>
              <a:t>mj_makeConstraint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286000"/>
            <a:ext cx="339943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 i="0">
                <a:solidFill>
                  <a:srgbClr val="1F6FB2"/>
                </a:solidFill>
                <a:latin typeface="Microsoft YaHei"/>
                <a:ea typeface="Microsoft YaHei"/>
              </a:rPr>
              <a:t>7.8%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560320"/>
            <a:ext cx="339943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B747D"/>
                </a:solidFill>
                <a:latin typeface="Microsoft YaHei"/>
                <a:ea typeface="Microsoft YaHei"/>
              </a:rPr>
              <a:t>均值·区间 0.9~15.9%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6402" y="1956816"/>
            <a:ext cx="361889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96130" y="2020824"/>
            <a:ext cx="339943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42C4B"/>
                </a:solidFill>
                <a:latin typeface="Microsoft YaHei"/>
                <a:ea typeface="Microsoft YaHei"/>
              </a:rPr>
              <a:t>分组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6130" y="2286000"/>
            <a:ext cx="339943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47D"/>
                </a:solidFill>
                <a:latin typeface="Microsoft YaHei"/>
                <a:ea typeface="Microsoft YaHei"/>
              </a:rPr>
              <a:t>mj_island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6130" y="2286000"/>
            <a:ext cx="339943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 i="0">
                <a:solidFill>
                  <a:srgbClr val="1F6FB2"/>
                </a:solidFill>
                <a:latin typeface="Microsoft YaHei"/>
                <a:ea typeface="Microsoft YaHei"/>
              </a:rPr>
              <a:t>3.2%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6130" y="2560320"/>
            <a:ext cx="339943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B747D"/>
                </a:solidFill>
                <a:latin typeface="Microsoft YaHei"/>
                <a:ea typeface="Microsoft YaHei"/>
              </a:rPr>
              <a:t>均值·区间 0.3~6.2%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9884" y="1956816"/>
            <a:ext cx="361889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9C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9612" y="2020824"/>
            <a:ext cx="339943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42C4B"/>
                </a:solidFill>
                <a:latin typeface="Microsoft YaHei"/>
                <a:ea typeface="Microsoft YaHei"/>
              </a:rPr>
              <a:t>收尾整理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9612" y="2286000"/>
            <a:ext cx="339943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47D"/>
                </a:solidFill>
                <a:latin typeface="Microsoft YaHei"/>
                <a:ea typeface="Microsoft YaHei"/>
              </a:rPr>
              <a:t>mj_projectConstraint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9612" y="2286000"/>
            <a:ext cx="339943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 i="0">
                <a:solidFill>
                  <a:srgbClr val="B9C0C7"/>
                </a:solidFill>
                <a:latin typeface="Microsoft YaHei"/>
                <a:ea typeface="Microsoft YaHei"/>
              </a:rPr>
              <a:t>0.2%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9612" y="2560320"/>
            <a:ext cx="339943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B747D"/>
                </a:solidFill>
                <a:latin typeface="Microsoft YaHei"/>
                <a:ea typeface="Microsoft YaHei"/>
              </a:rPr>
              <a:t>均值·区间 0.04~0.25%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962656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6FB2"/>
                </a:solidFill>
                <a:latin typeface="Microsoft YaHei"/>
                <a:ea typeface="Microsoft YaHei"/>
              </a:rPr>
              <a:t>官方测试在验证什么（engine_core_constraint_test.cc + engine_island_test.cc）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2920" y="3328416"/>
          <a:ext cx="1074420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7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测试在做什么</a:t>
                      </a:r>
                    </a:p>
                  </a:txBody>
                  <a:tcPr marL="101600" marR="101600" marT="38100" marB="38100" anchor="ctr">
                    <a:solidFill>
                      <a:srgbClr val="142C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7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验证的是哪一点</a:t>
                      </a:r>
                    </a:p>
                  </a:txBody>
                  <a:tcPr marL="101600" marR="101600" marT="38100" marB="38100" anchor="ctr">
                    <a:solidFill>
                      <a:srgbClr val="142C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934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69" b="1" i="0">
                          <a:solidFill>
                            <a:srgbClr val="1F6FB2"/>
                          </a:solidFill>
                          <a:latin typeface="Microsoft YaHei"/>
                          <a:ea typeface="Microsoft YaHei"/>
                        </a:rPr>
                        <a:t>【方程构建基础校验】</a:t>
                      </a:r>
                    </a:p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检查物体静止时残留的穿透误差、传送带等接触面运动模型、内存有没有提前分配够、柔性体的顶点约束等（约28个用例中的大部分，如 RestPenetration/JacobianPreAllocate/FlexvertEquality）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验证"列方程"这一步涉及的各个环节都没有算错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934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69" b="1" i="0">
                          <a:solidFill>
                            <a:srgbClr val="1F6FB2"/>
                          </a:solidFill>
                          <a:latin typeface="Microsoft YaHei"/>
                          <a:ea typeface="Microsoft YaHei"/>
                        </a:rPr>
                        <a:t>【双重验证法】</a:t>
                      </a:r>
                    </a:p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用两种完全独立的方法互相验证同一个结果（数值近似法 vs 正向反向推导一致性），并测试省内存算法和完整算法算出的结果是否一致（JdotvFiniteDifference/SparseRotationalJacobianMatchesDense 等用例）</a:t>
                      </a:r>
                    </a:p>
                  </a:txBody>
                  <a:tcPr marL="101600" marR="1016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这类"两种独立方法互相验证"的测试可信度最高，非常适合用来验证优化后代码有没有算错</a:t>
                      </a:r>
                    </a:p>
                  </a:txBody>
                  <a:tcPr marL="101600" marR="101600" marT="50800" marB="50800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934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69" b="1" i="0">
                          <a:solidFill>
                            <a:srgbClr val="1F6FB2"/>
                          </a:solidFill>
                          <a:latin typeface="Microsoft YaHei"/>
                          <a:ea typeface="Microsoft YaHei"/>
                        </a:rPr>
                        <a:t>【分组算法压力测试】</a:t>
                      </a:r>
                    </a:p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让分组算法在各种规模、甚至刻意刁难的输入下都能正确工作，包括几千个节点的极端场景（Dsu*系列约30个用例）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验证"把不相关部件分组"这一步的分组算法本身没有bug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934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69" b="1" i="0">
                          <a:solidFill>
                            <a:srgbClr val="1F6FB2"/>
                          </a:solidFill>
                          <a:latin typeface="Microsoft YaHei"/>
                          <a:ea typeface="Microsoft YaHei"/>
                        </a:rPr>
                        <a:t>【分组+求解+休眠集成】</a:t>
                      </a:r>
                    </a:p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在真实的、包含多种约束类型的场景里检查分组和求解配合得好不好，以及"休眠"（暂停不动的部件不参与计算）机制会不会误判（IslandEfc/PGSIsland/MjWakeIsland 等用例）</a:t>
                      </a:r>
                    </a:p>
                  </a:txBody>
                  <a:tcPr marL="101600" marR="1016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验证分组、求解、休眠这几个机制配合在一起、大规模场景下依然可靠</a:t>
                      </a:r>
                    </a:p>
                  </a:txBody>
                  <a:tcPr marL="101600" marR="101600" marT="50800" marB="50800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6B747D"/>
                </a:solidFill>
                <a:latin typeface="Microsoft YaHei"/>
                <a:ea typeface="Microsoft YaHei"/>
              </a:rPr>
              <a:t>耗时权重均值约11.2%（列方程+分组+收尾），也是官方测试最密集的环节之一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171DD-3112-6479-032C-91194D8B6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F66D78-1EC7-57CA-C416-44CB5595B7F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06F216-2487-AFB8-2842-6DE7CA88CD8D}"/>
              </a:ext>
            </a:extLst>
          </p:cNvPr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B747D"/>
                </a:solidFill>
                <a:latin typeface="Microsoft YaHei"/>
                <a:ea typeface="Microsoft YaHei"/>
              </a:rPr>
              <a:t>MuJoCo 算法优化测评项目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930102-4332-98A4-6751-57E9EFA7A6DC}"/>
              </a:ext>
            </a:extLst>
          </p:cNvPr>
          <p:cNvSpPr txBox="1"/>
          <p:nvPr/>
        </p:nvSpPr>
        <p:spPr>
          <a:xfrm>
            <a:off x="10728655" y="182880"/>
            <a:ext cx="10058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1050" dirty="0">
                <a:solidFill>
                  <a:srgbClr val="6B747D"/>
                </a:solidFill>
                <a:latin typeface="Microsoft YaHei"/>
                <a:ea typeface="Microsoft YaHei"/>
              </a:rPr>
              <a:t>9</a:t>
            </a:r>
            <a:r>
              <a:rPr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 / 1</a:t>
            </a:r>
            <a:r>
              <a:rPr lang="en-US" altLang="zh-CN"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1</a:t>
            </a:r>
            <a:endParaRPr sz="1050" b="0" i="0" dirty="0">
              <a:solidFill>
                <a:srgbClr val="6B747D"/>
              </a:solidFill>
              <a:latin typeface="Microsoft YaHei"/>
              <a:ea typeface="Microsoft YaHe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AE64E1-21DE-ACC5-35B3-3B4EC01B69DD}"/>
              </a:ext>
            </a:extLst>
          </p:cNvPr>
          <p:cNvSpPr/>
          <p:nvPr/>
        </p:nvSpPr>
        <p:spPr>
          <a:xfrm>
            <a:off x="502920" y="512064"/>
            <a:ext cx="54864" cy="42062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DA5059-9673-4B27-6F67-493B221FF788}"/>
              </a:ext>
            </a:extLst>
          </p:cNvPr>
          <p:cNvSpPr txBox="1"/>
          <p:nvPr/>
        </p:nvSpPr>
        <p:spPr>
          <a:xfrm>
            <a:off x="713232" y="438912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142C4B"/>
                </a:solidFill>
                <a:latin typeface="Microsoft YaHei"/>
                <a:ea typeface="Microsoft YaHei"/>
              </a:rPr>
              <a:t>传动换算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DBADF5-221D-8E43-2AB3-8CE8801D45D3}"/>
              </a:ext>
            </a:extLst>
          </p:cNvPr>
          <p:cNvSpPr/>
          <p:nvPr/>
        </p:nvSpPr>
        <p:spPr>
          <a:xfrm>
            <a:off x="502920" y="987552"/>
            <a:ext cx="11185855" cy="1587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D900DDD-37FC-5547-C522-E620F22EB5D6}"/>
              </a:ext>
            </a:extLst>
          </p:cNvPr>
          <p:cNvSpPr/>
          <p:nvPr/>
        </p:nvSpPr>
        <p:spPr>
          <a:xfrm>
            <a:off x="502920" y="1097280"/>
            <a:ext cx="11185855" cy="566928"/>
          </a:xfrm>
          <a:prstGeom prst="roundRect">
            <a:avLst>
              <a:gd name="adj" fmla="val 8000"/>
            </a:avLst>
          </a:prstGeom>
          <a:solidFill>
            <a:srgbClr val="EAF2F9"/>
          </a:solidFill>
          <a:ln w="952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348BD9-C3F3-3952-6770-B17E40A390C8}"/>
              </a:ext>
            </a:extLst>
          </p:cNvPr>
          <p:cNvSpPr txBox="1"/>
          <p:nvPr/>
        </p:nvSpPr>
        <p:spPr>
          <a:xfrm>
            <a:off x="731520" y="1170432"/>
            <a:ext cx="1072865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 dirty="0" err="1">
                <a:solidFill>
                  <a:srgbClr val="142C4B"/>
                </a:solidFill>
                <a:latin typeface="Microsoft YaHei"/>
                <a:ea typeface="Microsoft YaHei"/>
              </a:rPr>
              <a:t>这一步做什么：把驱动器输出的力</a:t>
            </a:r>
            <a:r>
              <a:rPr sz="1250" b="0" i="0" dirty="0">
                <a:solidFill>
                  <a:srgbClr val="142C4B"/>
                </a:solidFill>
                <a:latin typeface="Microsoft YaHei"/>
                <a:ea typeface="Microsoft YaHei"/>
              </a:rPr>
              <a:t>/</a:t>
            </a:r>
            <a:r>
              <a:rPr sz="1250" b="0" i="0" dirty="0" err="1">
                <a:solidFill>
                  <a:srgbClr val="142C4B"/>
                </a:solidFill>
                <a:latin typeface="Microsoft YaHei"/>
                <a:ea typeface="Microsoft YaHei"/>
              </a:rPr>
              <a:t>位移，按照关节</a:t>
            </a:r>
            <a:r>
              <a:rPr sz="1250" b="0" i="0" dirty="0">
                <a:solidFill>
                  <a:srgbClr val="142C4B"/>
                </a:solidFill>
                <a:latin typeface="Microsoft YaHei"/>
                <a:ea typeface="Microsoft YaHei"/>
              </a:rPr>
              <a:t>/</a:t>
            </a:r>
            <a:r>
              <a:rPr sz="1250" b="0" i="0" dirty="0" err="1">
                <a:solidFill>
                  <a:srgbClr val="142C4B"/>
                </a:solidFill>
                <a:latin typeface="Microsoft YaHei"/>
                <a:ea typeface="Microsoft YaHei"/>
              </a:rPr>
              <a:t>腱</a:t>
            </a:r>
            <a:r>
              <a:rPr sz="1250" b="0" i="0" dirty="0">
                <a:solidFill>
                  <a:srgbClr val="142C4B"/>
                </a:solidFill>
                <a:latin typeface="Microsoft YaHei"/>
                <a:ea typeface="Microsoft YaHei"/>
              </a:rPr>
              <a:t>/</a:t>
            </a:r>
            <a:r>
              <a:rPr sz="1250" b="0" i="0" dirty="0" err="1">
                <a:solidFill>
                  <a:srgbClr val="142C4B"/>
                </a:solidFill>
                <a:latin typeface="Microsoft YaHei"/>
                <a:ea typeface="Microsoft YaHei"/>
              </a:rPr>
              <a:t>滑块等不同传动类型，换算成作用在对应关节上的力</a:t>
            </a:r>
            <a:r>
              <a:rPr sz="1250" b="0" i="0" dirty="0">
                <a:solidFill>
                  <a:srgbClr val="142C4B"/>
                </a:solidFill>
                <a:latin typeface="Microsoft YaHei"/>
                <a:ea typeface="Microsoft YaHei"/>
              </a:rPr>
              <a:t>——</a:t>
            </a:r>
            <a:r>
              <a:rPr sz="1250" b="0" i="0" dirty="0" err="1">
                <a:solidFill>
                  <a:srgbClr val="142C4B"/>
                </a:solidFill>
                <a:latin typeface="Microsoft YaHei"/>
                <a:ea typeface="Microsoft YaHei"/>
              </a:rPr>
              <a:t>是"驱动力怎么让关节动起来"这条链路的几何基础</a:t>
            </a:r>
            <a:endParaRPr sz="1250" b="0" i="0" dirty="0">
              <a:solidFill>
                <a:srgbClr val="142C4B"/>
              </a:solidFill>
              <a:latin typeface="Microsoft YaHei"/>
              <a:ea typeface="Microsoft YaHei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9A5D0E8-CD7F-32BA-63B2-AA054642A986}"/>
              </a:ext>
            </a:extLst>
          </p:cNvPr>
          <p:cNvSpPr/>
          <p:nvPr/>
        </p:nvSpPr>
        <p:spPr>
          <a:xfrm>
            <a:off x="502920" y="1847088"/>
            <a:ext cx="11185855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9C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BCB709-918F-CC3C-27CC-6DAE9DCD3628}"/>
              </a:ext>
            </a:extLst>
          </p:cNvPr>
          <p:cNvSpPr txBox="1"/>
          <p:nvPr/>
        </p:nvSpPr>
        <p:spPr>
          <a:xfrm>
            <a:off x="612648" y="1920240"/>
            <a:ext cx="1096639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42C4B"/>
                </a:solidFill>
                <a:latin typeface="Microsoft YaHei"/>
                <a:ea typeface="Microsoft YaHei"/>
              </a:rPr>
              <a:t>驱动器力换算到关节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C65ADD-A3D9-BC03-7970-14FAB483CF85}"/>
              </a:ext>
            </a:extLst>
          </p:cNvPr>
          <p:cNvSpPr txBox="1"/>
          <p:nvPr/>
        </p:nvSpPr>
        <p:spPr>
          <a:xfrm>
            <a:off x="612648" y="2231136"/>
            <a:ext cx="1096639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B747D"/>
                </a:solidFill>
                <a:latin typeface="Microsoft YaHei"/>
                <a:ea typeface="Microsoft YaHei"/>
              </a:rPr>
              <a:t>mj_transmission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746BAB-C78E-AB2F-29A1-8E1263F46962}"/>
              </a:ext>
            </a:extLst>
          </p:cNvPr>
          <p:cNvSpPr txBox="1"/>
          <p:nvPr/>
        </p:nvSpPr>
        <p:spPr>
          <a:xfrm>
            <a:off x="502920" y="276148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 dirty="0" err="1">
                <a:solidFill>
                  <a:srgbClr val="1F6FB2"/>
                </a:solidFill>
                <a:latin typeface="Microsoft YaHei"/>
                <a:ea typeface="Microsoft YaHei"/>
              </a:rPr>
              <a:t>官方测试在验证什么（core_smooth_test</a:t>
            </a:r>
            <a:r>
              <a:rPr sz="1250" b="1" i="0" dirty="0">
                <a:solidFill>
                  <a:srgbClr val="1F6FB2"/>
                </a:solidFill>
                <a:latin typeface="Microsoft YaHei"/>
                <a:ea typeface="Microsoft YaHei"/>
              </a:rPr>
              <a:t> + </a:t>
            </a:r>
            <a:r>
              <a:rPr sz="1250" b="1" i="0" dirty="0" err="1">
                <a:solidFill>
                  <a:srgbClr val="1F6FB2"/>
                </a:solidFill>
                <a:latin typeface="Microsoft YaHei"/>
                <a:ea typeface="Microsoft YaHei"/>
              </a:rPr>
              <a:t>forward_test</a:t>
            </a:r>
            <a:r>
              <a:rPr sz="1250" b="1" i="0" dirty="0">
                <a:solidFill>
                  <a:srgbClr val="1F6FB2"/>
                </a:solidFill>
                <a:latin typeface="Microsoft YaHei"/>
                <a:ea typeface="Microsoft YaHei"/>
              </a:rPr>
              <a:t>）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49ADD36-F604-3FA7-D8C2-68B9CC997555}"/>
              </a:ext>
            </a:extLst>
          </p:cNvPr>
          <p:cNvGraphicFramePr>
            <a:graphicFrameLocks noGrp="1"/>
          </p:cNvGraphicFramePr>
          <p:nvPr/>
        </p:nvGraphicFramePr>
        <p:xfrm>
          <a:off x="502920" y="3127248"/>
          <a:ext cx="10744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测试在做什么</a:t>
                      </a:r>
                    </a:p>
                  </a:txBody>
                  <a:tcPr marL="101600" marR="101600" marT="38100" marB="38100" anchor="ctr">
                    <a:solidFill>
                      <a:srgbClr val="142C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验证的是哪一点</a:t>
                      </a:r>
                    </a:p>
                  </a:txBody>
                  <a:tcPr marL="101600" marR="101600" marT="38100" marB="38100" anchor="ctr">
                    <a:solidFill>
                      <a:srgbClr val="142C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 dirty="0">
                          <a:solidFill>
                            <a:srgbClr val="1F6FB2"/>
                          </a:solidFill>
                          <a:latin typeface="Microsoft YaHei"/>
                          <a:ea typeface="Microsoft YaHei"/>
                        </a:rPr>
                        <a:t>【</a:t>
                      </a:r>
                      <a:r>
                        <a:rPr sz="1200" b="1" i="0" dirty="0" err="1">
                          <a:solidFill>
                            <a:srgbClr val="1F6FB2"/>
                          </a:solidFill>
                          <a:latin typeface="Microsoft YaHei"/>
                          <a:ea typeface="Microsoft YaHei"/>
                        </a:rPr>
                        <a:t>传动公式校验</a:t>
                      </a:r>
                      <a:r>
                        <a:rPr sz="1200" b="1" i="0" dirty="0">
                          <a:solidFill>
                            <a:srgbClr val="1F6FB2"/>
                          </a:solidFill>
                          <a:latin typeface="Microsoft YaHei"/>
                          <a:ea typeface="Microsoft YaHei"/>
                        </a:rPr>
                        <a:t>】</a:t>
                      </a:r>
                    </a:p>
                    <a:p>
                      <a:r>
                        <a:rPr sz="1150" b="0" i="0" dirty="0" err="1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检查姿态类</a:t>
                      </a:r>
                      <a:r>
                        <a:rPr sz="1150" b="0" i="0" dirty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/PID类驱动器的换算公式对不对（SO3*/</a:t>
                      </a:r>
                      <a:r>
                        <a:rPr sz="1150" b="0" i="0" dirty="0" err="1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Pid</a:t>
                      </a:r>
                      <a:r>
                        <a:rPr sz="1150" b="0" i="0" dirty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* </a:t>
                      </a:r>
                      <a:r>
                        <a:rPr sz="1150" b="0" i="0" dirty="0" err="1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等用例</a:t>
                      </a:r>
                      <a:r>
                        <a:rPr sz="1150" b="0" i="0" dirty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）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验证传动换算公式没写错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 dirty="0">
                          <a:solidFill>
                            <a:srgbClr val="1F6FB2"/>
                          </a:solidFill>
                          <a:latin typeface="Microsoft YaHei"/>
                          <a:ea typeface="Microsoft YaHei"/>
                        </a:rPr>
                        <a:t>【</a:t>
                      </a:r>
                      <a:r>
                        <a:rPr sz="1200" b="1" i="0" dirty="0" err="1">
                          <a:solidFill>
                            <a:srgbClr val="1F6FB2"/>
                          </a:solidFill>
                          <a:latin typeface="Microsoft YaHei"/>
                          <a:ea typeface="Microsoft YaHei"/>
                        </a:rPr>
                        <a:t>驱动力链路集成测试</a:t>
                      </a:r>
                      <a:r>
                        <a:rPr sz="1200" b="1" i="0" dirty="0">
                          <a:solidFill>
                            <a:srgbClr val="1F6FB2"/>
                          </a:solidFill>
                          <a:latin typeface="Microsoft YaHei"/>
                          <a:ea typeface="Microsoft YaHei"/>
                        </a:rPr>
                        <a:t>】</a:t>
                      </a:r>
                    </a:p>
                    <a:p>
                      <a:r>
                        <a:rPr sz="1150" b="0" i="0" dirty="0" err="1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跑一遍各种真实驱动器类型，检查最终作用到关节上的力对不对（ActuatorTest</a:t>
                      </a:r>
                      <a:r>
                        <a:rPr sz="1150" b="0" i="0" dirty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/</a:t>
                      </a:r>
                      <a:r>
                        <a:rPr sz="1150" b="0" i="0" dirty="0" err="1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DCMotorTest</a:t>
                      </a:r>
                      <a:r>
                        <a:rPr sz="1150" b="0" i="0" dirty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等用例</a:t>
                      </a:r>
                      <a:r>
                        <a:rPr sz="1150" b="0" i="0" dirty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）</a:t>
                      </a:r>
                    </a:p>
                  </a:txBody>
                  <a:tcPr marL="101600" marR="1016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 dirty="0" err="1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端到端验证"驱动器到关节力"这条链路整体没问题</a:t>
                      </a:r>
                      <a:endParaRPr sz="1150" b="0" i="0" dirty="0">
                        <a:solidFill>
                          <a:srgbClr val="24282D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01600" marR="101600" marT="50800" marB="50800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44FBB49-1758-85F9-70B4-ED861F773476}"/>
              </a:ext>
            </a:extLst>
          </p:cNvPr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6B747D"/>
                </a:solidFill>
                <a:latin typeface="Microsoft YaHei"/>
                <a:ea typeface="Microsoft YaHei"/>
              </a:rPr>
              <a:t>耗时占比约0.12%，本场景无驱动器、数值接近调用开销下限 · 怎么用于优化回归见后文优化测评应用指南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DCE072D3-CC16-A4F1-8069-3942139D8687}"/>
              </a:ext>
            </a:extLst>
          </p:cNvPr>
          <p:cNvSpPr txBox="1"/>
          <p:nvPr/>
        </p:nvSpPr>
        <p:spPr>
          <a:xfrm>
            <a:off x="612648" y="2395728"/>
            <a:ext cx="1096639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B747D"/>
                </a:solidFill>
                <a:latin typeface="Microsoft YaHei"/>
                <a:ea typeface="Microsoft YaHei"/>
              </a:rPr>
              <a:t>均值·区间 0.1~0.7%</a:t>
            </a:r>
          </a:p>
        </p:txBody>
      </p:sp>
    </p:spTree>
    <p:extLst>
      <p:ext uri="{BB962C8B-B14F-4D97-AF65-F5344CB8AC3E}">
        <p14:creationId xmlns:p14="http://schemas.microsoft.com/office/powerpoint/2010/main" val="3001661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B747D"/>
                </a:solidFill>
                <a:latin typeface="Microsoft YaHei"/>
                <a:ea typeface="Microsoft YaHei"/>
              </a:rPr>
              <a:t>MuJoCo 算法优化测评项目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82880"/>
            <a:ext cx="10058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1</a:t>
            </a:r>
            <a:r>
              <a:rPr lang="en-US" altLang="zh-CN"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0</a:t>
            </a:r>
            <a:r>
              <a:rPr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 / 1</a:t>
            </a:r>
            <a:r>
              <a:rPr lang="en-US" altLang="zh-CN"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1</a:t>
            </a:r>
            <a:endParaRPr sz="1050" b="0" i="0" dirty="0">
              <a:solidFill>
                <a:srgbClr val="6B747D"/>
              </a:solidFill>
              <a:latin typeface="Microsoft YaHei"/>
              <a:ea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512064"/>
            <a:ext cx="54864" cy="42062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438912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142C4B"/>
                </a:solidFill>
                <a:latin typeface="Microsoft YaHei"/>
                <a:ea typeface="Microsoft YaHei"/>
              </a:rPr>
              <a:t>怎么用：分步骤关键回归用例（复用官方测试）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1185855" cy="1587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07442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子步骤/函数（含均值耗时占比）</a:t>
                      </a:r>
                    </a:p>
                  </a:txBody>
                  <a:tcPr marL="88900" marR="88900" marT="38100" marB="38100" anchor="ctr">
                    <a:solidFill>
                      <a:srgbClr val="142C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关键回归测试</a:t>
                      </a:r>
                    </a:p>
                  </a:txBody>
                  <a:tcPr marL="88900" marR="88900" marT="38100" marB="38100" anchor="ctr">
                    <a:solidFill>
                      <a:srgbClr val="142C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使用方法</a:t>
                      </a:r>
                    </a:p>
                  </a:txBody>
                  <a:tcPr marL="88900" marR="88900" marT="38100" marB="38100" anchor="ctr">
                    <a:solidFill>
                      <a:srgbClr val="142C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10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运动学定位 · 均值~5.2%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1" i="0">
                          <a:solidFill>
                            <a:srgbClr val="B86E00"/>
                          </a:solidFill>
                          <a:latin typeface="Microsoft YaHei"/>
                          <a:ea typeface="Microsoft YaHei"/>
                        </a:rPr>
                        <a:t>★ TendonJdot / TendonArmature* / SO3LargeAngleConvergence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优化腱雅可比或姿态运算（四元数归一化等）后逐条跑，确认守恒量误差与大角度收敛性不变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10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质量矩阵 · 均值~13.6%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1" i="0">
                          <a:solidFill>
                            <a:srgbClr val="B86E00"/>
                          </a:solidFill>
                          <a:latin typeface="Microsoft YaHei"/>
                          <a:ea typeface="Microsoft YaHei"/>
                        </a:rPr>
                        <a:t>★ mulM / mulM2 / FullM（稀疏vs稠密）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高自由度场景下开销显著，优化稀疏分解/乘法算法后对比稠密真值，数值容差内一致即通过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10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碰撞检测 · 均值~14.0%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1" i="0">
                          <a:solidFill>
                            <a:srgbClr val="B86E00"/>
                          </a:solidFill>
                          <a:latin typeface="Microsoft YaHei"/>
                          <a:ea typeface="Microsoft YaHei"/>
                        </a:rPr>
                        <a:t>★ ThinBox*系列 / GJK SlowConvergence / BoxBoxMultiCCD1~15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粗筛在各场景下都不低，优化数值格式、收敛容差或迭代次数后必须逐条跑通——历史踩坑积累下来的边界回归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10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列方程 mj_makeConstraint · 均值~7.8%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1" i="0">
                          <a:solidFill>
                            <a:srgbClr val="B86E00"/>
                          </a:solidFill>
                          <a:latin typeface="Microsoft YaHei"/>
                          <a:ea typeface="Microsoft YaHei"/>
                        </a:rPr>
                        <a:t>★ JdotvFiniteDifference / SparseRotationalJacobianMatchesDense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接触密集场景下最贵（可达15.9%），优化收益最大也最需要回归——对比有限差分结果与稠密实现结果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10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分组 mj_island · 均值~3.2%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1" i="0">
                          <a:solidFill>
                            <a:srgbClr val="B86E00"/>
                          </a:solidFill>
                          <a:latin typeface="Microsoft YaHei"/>
                          <a:ea typeface="Microsoft YaHei"/>
                        </a:rPr>
                        <a:t>★ DsuRandomizedDifferentialAgainstGraphTraversal / BoundedArenaSupports1024Trees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耗时不算小，差分对照暴力图遍历验证正确性；大规模用例可直接做并行化优化的性能基准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10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传动换算 · 均值~0.4%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ActuatorTest / DCMotorTest（集成）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传动无独立测试文件，优化传动相关代码需连同下游驱动力链路一起跑集成测试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6B747D"/>
                </a:solidFill>
                <a:latin typeface="Microsoft YaHei"/>
                <a:ea typeface="Microsoft YaHei"/>
              </a:rPr>
              <a:t>★ 为最优先复核的"交叉验证/边界回归"类用例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B747D"/>
                </a:solidFill>
                <a:latin typeface="Microsoft YaHei"/>
                <a:ea typeface="Microsoft YaHei"/>
              </a:rPr>
              <a:t>MuJoCo 算法优化测评项目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82880"/>
            <a:ext cx="10058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1</a:t>
            </a:r>
            <a:r>
              <a:rPr lang="en-US" altLang="zh-CN"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1</a:t>
            </a:r>
            <a:r>
              <a:rPr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 / 1</a:t>
            </a:r>
            <a:r>
              <a:rPr lang="en-US" altLang="zh-CN" sz="1050" b="0" i="0" dirty="0">
                <a:solidFill>
                  <a:srgbClr val="6B747D"/>
                </a:solidFill>
                <a:latin typeface="Microsoft YaHei"/>
                <a:ea typeface="Microsoft YaHei"/>
              </a:rPr>
              <a:t>1</a:t>
            </a:r>
            <a:endParaRPr sz="1050" b="0" i="0" dirty="0">
              <a:solidFill>
                <a:srgbClr val="6B747D"/>
              </a:solidFill>
              <a:latin typeface="Microsoft YaHei"/>
              <a:ea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512064"/>
            <a:ext cx="54864" cy="42062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438912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142C4B"/>
                </a:solidFill>
                <a:latin typeface="Microsoft YaHei"/>
                <a:ea typeface="Microsoft YaHei"/>
              </a:rPr>
              <a:t>怎么对比：MuJoCo vs MuJoCo Warp 按步骤对比手段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1185855" cy="1587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11185855" cy="566928"/>
          </a:xfrm>
          <a:prstGeom prst="roundRect">
            <a:avLst>
              <a:gd name="adj" fmla="val 8000"/>
            </a:avLst>
          </a:prstGeom>
          <a:solidFill>
            <a:srgbClr val="F1ECF7"/>
          </a:solidFill>
          <a:ln w="9525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72865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6A3D9A"/>
                </a:solidFill>
                <a:latin typeface="Microsoft YaHei"/>
                <a:ea typeface="Microsoft YaHei"/>
              </a:rPr>
              <a:t>对比方法：优化算法方案未定前可先做的准备：用 mujoco_warp.test_data.fixture() 把同一模型同时加载进 MuJoCo(CPU/float64,基准) 与 MuJoCo Warp(GPU/float32)，按每一步分别调用对应函数、比对中间结果，建议单步对比、避免长程rollout累积误差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28800"/>
          <a:ext cx="11292840" cy="4206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019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计算步骤</a:t>
                      </a:r>
                    </a:p>
                  </a:txBody>
                  <a:tcPr marL="88900" marR="88900" marT="38100" marB="38100" anchor="ctr">
                    <a:solidFill>
                      <a:srgbClr val="6A3D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MuJoCo 函数</a:t>
                      </a:r>
                    </a:p>
                  </a:txBody>
                  <a:tcPr marL="88900" marR="88900" marT="38100" marB="38100" anchor="ctr">
                    <a:solidFill>
                      <a:srgbClr val="6A3D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MJWarp 函数</a:t>
                      </a:r>
                    </a:p>
                  </a:txBody>
                  <a:tcPr marL="88900" marR="88900" marT="38100" marB="38100" anchor="ctr">
                    <a:solidFill>
                      <a:srgbClr val="6A3D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对比的中间量</a:t>
                      </a:r>
                    </a:p>
                  </a:txBody>
                  <a:tcPr marL="88900" marR="88900" marT="38100" marB="38100" anchor="ctr">
                    <a:solidFill>
                      <a:srgbClr val="6A3D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已知差异 / 注意事项</a:t>
                      </a:r>
                    </a:p>
                  </a:txBody>
                  <a:tcPr marL="88900" marR="88900" marT="38100" marB="38100" anchor="ctr">
                    <a:solidFill>
                      <a:srgbClr val="6A3D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753"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运动学定位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mj_kinematics/comPos/camlight/tendon/transmission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kinematics/com_pos/camlight/tendon/transmission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位置、姿态、腱长度等中间结果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float32 vs float64 精度差异为主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753"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质量矩阵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mj_crb / mj_factorM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crb / factor_m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展开后的质量矩阵本身、及用它求解的结果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1" i="0">
                          <a:solidFill>
                            <a:srgbClr val="B86E00"/>
                          </a:solidFill>
                          <a:latin typeface="Microsoft YaHei"/>
                          <a:ea typeface="Microsoft YaHei"/>
                        </a:rPr>
                        <a:t>★ 预处理算法不同，不比中间过程，只比最终结果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753"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碰撞检测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mj_collision（粗筛+精算）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collision（broadphase+narrowphase）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接触数量/位置/法向/穿透深度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1" i="0">
                          <a:solidFill>
                            <a:srgbClr val="B86E00"/>
                          </a:solidFill>
                          <a:latin typeface="Microsoft YaHei"/>
                          <a:ea typeface="Microsoft YaHei"/>
                        </a:rPr>
                        <a:t>★ 支持的形状组合是子集，先用双方都支持的形状建模，避免功能缺口误判为bug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753"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约束整理与分组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mj_makeConstraint / mj_island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make_constraint / island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方程数量、方程内容、分组结果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1" i="0">
                          <a:solidFill>
                            <a:srgbClr val="B86E00"/>
                          </a:solidFill>
                          <a:latin typeface="Microsoft YaHei"/>
                          <a:ea typeface="Microsoft YaHei"/>
                        </a:rPr>
                        <a:t>★ Warp端的方程矩阵恒为"展开存储"，MuJoCo是"压缩存储"，需展开成一致格式再比</a:t>
                      </a:r>
                    </a:p>
                  </a:txBody>
                  <a:tcPr marL="88900" marR="88900" marT="50800" marB="50800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1753"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传动换算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mj_transmission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transmission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驱动器长度、力矩换算系数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i="0">
                          <a:solidFill>
                            <a:srgbClr val="24282D"/>
                          </a:solidFill>
                          <a:latin typeface="Microsoft YaHei"/>
                          <a:ea typeface="Microsoft YaHei"/>
                        </a:rPr>
                        <a:t>精度差异为主，逻辑应完全一致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6B747D"/>
                </a:solidFill>
                <a:latin typeface="Microsoft YaHei"/>
                <a:ea typeface="Microsoft YaHei"/>
              </a:rPr>
              <a:t>另有约束求解器一步（均值占比最高、warmstart策略差异也最大）不在位置阶段范围内，详见配套文档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1603</Words>
  <Application>Microsoft Macintosh PowerPoint</Application>
  <PresentationFormat>宽屏</PresentationFormat>
  <Paragraphs>306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Zhixuan Xu (MSc Computer Science FT)</cp:lastModifiedBy>
  <cp:revision>6</cp:revision>
  <dcterms:created xsi:type="dcterms:W3CDTF">2013-01-27T09:14:16Z</dcterms:created>
  <dcterms:modified xsi:type="dcterms:W3CDTF">2026-08-19T07:04:18Z</dcterms:modified>
  <cp:category/>
</cp:coreProperties>
</file>